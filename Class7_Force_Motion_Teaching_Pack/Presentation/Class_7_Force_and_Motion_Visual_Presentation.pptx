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731520"/>
            <a:ext cx="1188720" cy="1188720"/>
          </a:xfrm>
          <a:prstGeom prst="ellipse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645920"/>
            <a:ext cx="594360" cy="594360"/>
          </a:xfrm>
          <a:prstGeom prst="ellipse">
            <a:avLst/>
          </a:prstGeom>
          <a:solidFill>
            <a:srgbClr val="FA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1965960"/>
            <a:ext cx="457200" cy="457200"/>
          </a:xfrm>
          <a:prstGeom prst="ellipse">
            <a:avLst/>
          </a:prstGeom>
          <a:solidFill>
            <a:srgbClr val="EF6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2743200"/>
            <a:ext cx="320040" cy="320040"/>
          </a:xfrm>
          <a:prstGeom prst="ellipse">
            <a:avLst/>
          </a:prstGeom>
          <a:solidFill>
            <a:srgbClr val="84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8686800" cy="77724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FORCE &amp;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6400800" cy="50292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FABE3C"/>
                </a:solidFill>
                <a:latin typeface="Aptos"/>
              </a:defRPr>
            </a:pPr>
            <a:r>
              <a:t>CLASS 7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7863840" cy="64008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600" b="0">
                <a:solidFill>
                  <a:srgbClr val="FFFFFF"/>
                </a:solidFill>
                <a:latin typeface="Aptos"/>
              </a:defRPr>
            </a:pPr>
            <a:r>
              <a:t>The science behind every move.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7772400" cy="41148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BEDCE6"/>
                </a:solidFill>
                <a:latin typeface="Aptos"/>
              </a:defRPr>
            </a:pPr>
            <a:r>
              <a:t>Think • Predict • Explore • Explain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8229600" cy="27432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BECDDC"/>
                </a:solidFill>
                <a:latin typeface="Aptos"/>
              </a:defRPr>
            </a:pPr>
            <a:r>
              <a:t>INTERACTIVE-STYLE LESSON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Quick challenge: what is moving?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No definitions yet. Make a prediction first.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82296" cy="2286000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6537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A. A cyclist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3063240" cy="162763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Moves 100 metres in 20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82296" cy="2286000"/>
          </a:xfrm>
          <a:prstGeom prst="rect">
            <a:avLst/>
          </a:prstGeom>
          <a:solidFill>
            <a:srgbClr val="FA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6537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B. A school bag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04288"/>
            <a:ext cx="3063240" cy="162763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Has a mass of 4 kg.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82296" cy="2286000"/>
          </a:xfrm>
          <a:prstGeom prst="rect">
            <a:avLst/>
          </a:prstGeom>
          <a:solidFill>
            <a:srgbClr val="EF6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6537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C. A ball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04288"/>
            <a:ext cx="3063240" cy="162763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Changes direction after a kick.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Which situation describes motion? Which describes mass? Which shows a force changing motion?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Today's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By the end, you should be able to explain and compare…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82296" cy="1417320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7393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SCALAR &amp;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3063240" cy="75895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546"/>
                </a:solidFill>
                <a:latin typeface="Aptos"/>
              </a:defRPr>
            </a:pPr>
            <a:r>
              <a:t>Magnitude only vs magnitude + direction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45920"/>
            <a:ext cx="82296" cy="1417320"/>
          </a:xfrm>
          <a:prstGeom prst="rect">
            <a:avLst/>
          </a:prstGeom>
          <a:solidFill>
            <a:srgbClr val="FA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77393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MASS &amp;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212848"/>
            <a:ext cx="3063240" cy="75895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546"/>
                </a:solidFill>
                <a:latin typeface="Aptos"/>
              </a:defRPr>
            </a:pPr>
            <a:r>
              <a:t>Amount of matter vs gravitational force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45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645920"/>
            <a:ext cx="82296" cy="1417320"/>
          </a:xfrm>
          <a:prstGeom prst="rect">
            <a:avLst/>
          </a:prstGeom>
          <a:solidFill>
            <a:srgbClr val="2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77393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DISTANCE &amp; DISPLACEMENT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212848"/>
            <a:ext cx="3063240" cy="75895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546"/>
                </a:solidFill>
                <a:latin typeface="Aptos"/>
              </a:defRPr>
            </a:pPr>
            <a:r>
              <a:t>Total path vs straight-line change in position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204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20439"/>
            <a:ext cx="82296" cy="1417320"/>
          </a:xfrm>
          <a:prstGeom prst="rect">
            <a:avLst/>
          </a:prstGeom>
          <a:solidFill>
            <a:srgbClr val="84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64845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SPEED &amp; VELOCITY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087368"/>
            <a:ext cx="3063240" cy="75895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546"/>
                </a:solidFill>
                <a:latin typeface="Aptos"/>
              </a:defRPr>
            </a:pPr>
            <a:r>
              <a:t>How fast vs how fast in a direction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5204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520439"/>
            <a:ext cx="82296" cy="1417320"/>
          </a:xfrm>
          <a:prstGeom prst="rect">
            <a:avLst/>
          </a:prstGeom>
          <a:solidFill>
            <a:srgbClr val="EF6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64845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64A"/>
                </a:solidFill>
                <a:latin typeface="Aptos"/>
              </a:defRPr>
            </a:pPr>
            <a:r>
              <a:t>ACCELERATION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087368"/>
            <a:ext cx="3063240" cy="75895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546"/>
                </a:solidFill>
                <a:latin typeface="Aptos"/>
              </a:defRPr>
            </a:pPr>
            <a:r>
              <a:t>How velocity changes over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Force can change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A force is a push or pull.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82296" cy="2148840"/>
          </a:xfrm>
          <a:prstGeom prst="rect">
            <a:avLst/>
          </a:prstGeom>
          <a:solidFill>
            <a:srgbClr val="2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04288"/>
            <a:ext cx="3063240" cy="1490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A ball is at rest.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82296" cy="2148840"/>
          </a:xfrm>
          <a:prstGeom prst="rect">
            <a:avLst/>
          </a:prstGeom>
          <a:solidFill>
            <a:srgbClr val="EF6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6537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APPLY 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04288"/>
            <a:ext cx="3063240" cy="1490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A player kicks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82296" cy="2148840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86537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304288"/>
            <a:ext cx="3063240" cy="1490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B3546"/>
                </a:solidFill>
                <a:latin typeface="Aptos"/>
              </a:defRPr>
            </a:pPr>
            <a:r>
              <a:t>The ball starts moving or changes direction.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241280" cy="73152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Forces can start, stop, speed up, slow down or change the direction of an object.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Scalar vs vector quantities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A vector needs a direction as well as a size.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0749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82296" cy="2468880"/>
          </a:xfrm>
          <a:prstGeom prst="rect">
            <a:avLst/>
          </a:prstGeom>
          <a:solidFill>
            <a:srgbClr val="2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19656"/>
            <a:ext cx="4709159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6264A"/>
                </a:solidFill>
                <a:latin typeface="Aptos"/>
              </a:defRPr>
            </a:pPr>
            <a:r>
              <a:t>SCALAR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58568"/>
            <a:ext cx="4709159" cy="181051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Magnitude only</a:t>
            </a:r>
          </a:p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Examples: mass, time, distance, speed, temperature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0749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82296" cy="2468880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819656"/>
            <a:ext cx="4709159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6264A"/>
                </a:solidFill>
                <a:latin typeface="Aptos"/>
              </a:defRPr>
            </a:pPr>
            <a:r>
              <a:t>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58568"/>
            <a:ext cx="4709159" cy="181051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Magnitude + direction</a:t>
            </a:r>
          </a:p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Examples: displacement, velocity, acceleration,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241280" cy="54864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6264A"/>
                </a:solidFill>
                <a:latin typeface="Aptos"/>
              </a:defRPr>
            </a:pPr>
            <a:r>
              <a:t>Quick test: “5 m/s” is speed. “5 m/s east” is velocity.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Watch the arrow: direction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The size can stay the same while the direction changes.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alar_vecto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5394960" cy="2697480"/>
          </a:xfrm>
          <a:prstGeom prst="rect">
            <a:avLst/>
          </a:prstGeom>
        </p:spPr>
      </p:pic>
      <p:pic>
        <p:nvPicPr>
          <p:cNvPr id="6" name="Picture 5" descr="scalar_vecto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508760"/>
            <a:ext cx="5394960" cy="2697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297680"/>
            <a:ext cx="53035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2C69BE"/>
                </a:solidFill>
                <a:latin typeface="Aptos"/>
              </a:defRPr>
            </a:pPr>
            <a:r>
              <a:t>SCALAR: 5 m/s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297680"/>
            <a:ext cx="53035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9A91"/>
                </a:solidFill>
                <a:latin typeface="Aptos"/>
              </a:defRPr>
            </a:pPr>
            <a:r>
              <a:t>VECTOR: 5 m/s EAST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If the arrow turns, has the vector changed? Explain why.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Mass vs 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Related, but they are not the same quantity.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82296" cy="2606040"/>
          </a:xfrm>
          <a:prstGeom prst="rect">
            <a:avLst/>
          </a:prstGeom>
          <a:solidFill>
            <a:srgbClr val="2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48920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6264A"/>
                </a:solidFill>
                <a:latin typeface="Aptos"/>
              </a:defRPr>
            </a:pPr>
            <a:r>
              <a:t>MASS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4892040" cy="19476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• Amount of matter in an object</a:t>
            </a:r>
          </a:p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• Measured in kilograms (kg)</a:t>
            </a:r>
          </a:p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• Stays the same when location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82296" cy="2606040"/>
          </a:xfrm>
          <a:prstGeom prst="rect">
            <a:avLst/>
          </a:prstGeom>
          <a:solidFill>
            <a:srgbClr val="EF6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19656"/>
            <a:ext cx="48920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6264A"/>
                </a:solidFill>
                <a:latin typeface="Aptos"/>
              </a:defRPr>
            </a:pPr>
            <a:r>
              <a:t>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58568"/>
            <a:ext cx="4892040" cy="19476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• Gravitational force on an object</a:t>
            </a:r>
          </a:p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• Measured in newtons (N)</a:t>
            </a:r>
          </a:p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• Changes when gravity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10241280" cy="50292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16264A"/>
                </a:solidFill>
                <a:latin typeface="Aptos"/>
              </a:defRPr>
            </a:pPr>
            <a:r>
              <a:t>Weight = mass × gravitational field strength     W = mg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687587"/>
                </a:solidFill>
                <a:latin typeface="Aptos"/>
              </a:defRPr>
            </a:pPr>
            <a:r>
              <a:t>Example on Earth: a 2 kg object weighs about 19.6 N if g = 9.8 N/kg.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Think like a scientist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Imagine taking the same object from Earth to the Moon.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82296" cy="2194560"/>
          </a:xfrm>
          <a:prstGeom prst="rect">
            <a:avLst/>
          </a:prstGeom>
          <a:solidFill>
            <a:srgbClr val="2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11095"/>
            <a:ext cx="292608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6264A"/>
                </a:solidFill>
                <a:latin typeface="Aptos"/>
              </a:defRPr>
            </a:pPr>
            <a:r>
              <a:t>MASS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50008"/>
            <a:ext cx="2926080" cy="153619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Does it change?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83080"/>
            <a:ext cx="82296" cy="2194560"/>
          </a:xfrm>
          <a:prstGeom prst="rect">
            <a:avLst/>
          </a:prstGeom>
          <a:solidFill>
            <a:srgbClr val="EF6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911095"/>
            <a:ext cx="292608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6264A"/>
                </a:solidFill>
                <a:latin typeface="Aptos"/>
              </a:defRPr>
            </a:pPr>
            <a:r>
              <a:t>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50008"/>
            <a:ext cx="2926080" cy="153619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Does it change?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82296" cy="2194560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11095"/>
            <a:ext cx="292608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6264A"/>
                </a:solidFill>
                <a:latin typeface="Aptos"/>
              </a:defRPr>
            </a:pPr>
            <a:r>
              <a:t>WHY?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50008"/>
            <a:ext cx="2926080" cy="153619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Gravity is different.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241280" cy="64008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Turn and talk: explain your answer using the words “matter” and “gravity.”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Distance vs displacement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One measures the path; the other measures the change in position.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82296" cy="2560320"/>
          </a:xfrm>
          <a:prstGeom prst="rect">
            <a:avLst/>
          </a:prstGeom>
          <a:solidFill>
            <a:srgbClr val="EF6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73936"/>
            <a:ext cx="48920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6264A"/>
                </a:solidFill>
                <a:latin typeface="Aptos"/>
              </a:defRPr>
            </a:pPr>
            <a:r>
              <a:t>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4892040" cy="190195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Total length of the route travelled.</a:t>
            </a:r>
          </a:p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Scalar • no direction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578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82296" cy="2560320"/>
          </a:xfrm>
          <a:prstGeom prst="rect">
            <a:avLst/>
          </a:prstGeom>
          <a:solidFill>
            <a:srgbClr val="2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73936"/>
            <a:ext cx="48920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6264A"/>
                </a:solidFill>
                <a:latin typeface="Aptos"/>
              </a:defRPr>
            </a:pPr>
            <a:r>
              <a:t>DISPLACEMENT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12848"/>
            <a:ext cx="4892040" cy="190195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Straight-line change from start to finish, with direction.</a:t>
            </a:r>
          </a:p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Vector • direction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Walk 3 m east, then 3 m west: distance = 6 m; displacement = 0 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Follow the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The route can be longer than the straight-line change in position.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stance_displacemen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5394960" cy="2697480"/>
          </a:xfrm>
          <a:prstGeom prst="rect">
            <a:avLst/>
          </a:prstGeom>
        </p:spPr>
      </p:pic>
      <p:pic>
        <p:nvPicPr>
          <p:cNvPr id="6" name="Picture 5" descr="distance_displacemen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508760"/>
            <a:ext cx="5394960" cy="2697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297680"/>
            <a:ext cx="53035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2C69BE"/>
                </a:solidFill>
                <a:latin typeface="Aptos"/>
              </a:defRPr>
            </a:pPr>
            <a:r>
              <a:t>DISTANCE = TOTAL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297680"/>
            <a:ext cx="53035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9A91"/>
                </a:solidFill>
                <a:latin typeface="Aptos"/>
              </a:defRPr>
            </a:pPr>
            <a:r>
              <a:t>DISPLACEMENT = START TO FINISH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If you return to your starting point, what is your displacement?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Speed vs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Both describe motion, but velocity includes direction.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0749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82296" cy="2468880"/>
          </a:xfrm>
          <a:prstGeom prst="rect">
            <a:avLst/>
          </a:prstGeom>
          <a:solidFill>
            <a:srgbClr val="2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19656"/>
            <a:ext cx="4709159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6264A"/>
                </a:solidFill>
                <a:latin typeface="Aptos"/>
              </a:defRPr>
            </a:pPr>
            <a: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58568"/>
            <a:ext cx="4709159" cy="181051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2B3546"/>
                </a:solidFill>
                <a:latin typeface="Aptos"/>
              </a:defRPr>
            </a:pPr>
            <a:r>
              <a:t>Speed = distance ÷ time</a:t>
            </a:r>
          </a:p>
          <a:p>
            <a:pPr>
              <a:spcAft>
                <a:spcPts val="700"/>
              </a:spcAft>
              <a:defRPr sz="2100" b="0">
                <a:solidFill>
                  <a:srgbClr val="2B3546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2100" b="0">
                <a:solidFill>
                  <a:srgbClr val="2B3546"/>
                </a:solidFill>
                <a:latin typeface="Aptos"/>
              </a:defRPr>
            </a:pPr>
            <a:r>
              <a:t>Example: 4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0749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82296" cy="2468880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819656"/>
            <a:ext cx="4709159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6264A"/>
                </a:solidFill>
                <a:latin typeface="Aptos"/>
              </a:defRPr>
            </a:pPr>
            <a:r>
              <a:t>VELOCITY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58568"/>
            <a:ext cx="4709159" cy="181051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Average velocity = displacement ÷ time</a:t>
            </a:r>
          </a:p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Example: 4 m/s north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24128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A runner can have a high speed but zero displacement after one complete lap.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Let's calculate!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A student travels 60 m in 12 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2461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82296" cy="2286000"/>
          </a:xfrm>
          <a:prstGeom prst="rect">
            <a:avLst/>
          </a:prstGeom>
          <a:solidFill>
            <a:srgbClr val="2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65376"/>
            <a:ext cx="288036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GIVEN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04288"/>
            <a:ext cx="2880360" cy="162763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Distance = 60 m</a:t>
            </a:r>
          </a:p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Time = 12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37360"/>
            <a:ext cx="32461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737360"/>
            <a:ext cx="82296" cy="2286000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865376"/>
            <a:ext cx="288036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04288"/>
            <a:ext cx="2880360" cy="162763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Speed = distance ÷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2461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737360"/>
            <a:ext cx="82296" cy="2286000"/>
          </a:xfrm>
          <a:prstGeom prst="rect">
            <a:avLst/>
          </a:prstGeom>
          <a:solidFill>
            <a:srgbClr val="FA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865376"/>
            <a:ext cx="288036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304288"/>
            <a:ext cx="2880360" cy="162763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2B3546"/>
                </a:solidFill>
                <a:latin typeface="Aptos"/>
              </a:defRPr>
            </a:pPr>
            <a:r>
              <a:t>60 ÷ 12 = 5 m/s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241280" cy="73152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6264A"/>
                </a:solidFill>
                <a:latin typeface="Aptos"/>
              </a:defRPr>
            </a:pPr>
            <a:r>
              <a:t>Now change the question: if the displacement is 60 m east, what is the average velocity?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Acceleration: change in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Acceleration can mean speeding up, slowing down or changing direction.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4290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" cy="2377440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SPEEDING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58568"/>
            <a:ext cx="3063240" cy="17190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B3546"/>
                </a:solidFill>
                <a:latin typeface="Aptos"/>
              </a:defRPr>
            </a:pPr>
            <a:r>
              <a:t>Velocity increases.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82296" cy="2377440"/>
          </a:xfrm>
          <a:prstGeom prst="rect">
            <a:avLst/>
          </a:prstGeom>
          <a:solidFill>
            <a:srgbClr val="EF6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1965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SLOWING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58568"/>
            <a:ext cx="3063240" cy="17190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B3546"/>
                </a:solidFill>
                <a:latin typeface="Aptos"/>
              </a:defRPr>
            </a:pPr>
            <a:r>
              <a:t>Velocity decreases in the direction of motion.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91640"/>
            <a:ext cx="34290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91640"/>
            <a:ext cx="82296" cy="2377440"/>
          </a:xfrm>
          <a:prstGeom prst="rect">
            <a:avLst/>
          </a:prstGeom>
          <a:solidFill>
            <a:srgbClr val="84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81965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TURNING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58568"/>
            <a:ext cx="3063240" cy="17190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Direction changes, so velocity changes.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241280" cy="50292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6264A"/>
                </a:solidFill>
                <a:latin typeface="Aptos"/>
              </a:defRPr>
            </a:pPr>
            <a:r>
              <a:t>Average acceleration = change in velocity ÷ time taken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See acceleration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The speed indicator grows as the vehicle moves.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celer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5394960" cy="2697480"/>
          </a:xfrm>
          <a:prstGeom prst="rect">
            <a:avLst/>
          </a:prstGeom>
        </p:spPr>
      </p:pic>
      <p:pic>
        <p:nvPicPr>
          <p:cNvPr id="6" name="Picture 5" descr="acceler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508760"/>
            <a:ext cx="5394960" cy="2697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297680"/>
            <a:ext cx="53035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2C69BE"/>
                </a:solidFill>
                <a:latin typeface="Aptos"/>
              </a:defRPr>
            </a:pPr>
            <a:r>
              <a:t>VEHICLE MOVES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297680"/>
            <a:ext cx="53035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9A91"/>
                </a:solidFill>
                <a:latin typeface="Aptos"/>
              </a:defRPr>
            </a:pPr>
            <a:r>
              <a:t>SPEED INCREASES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What would the speed indicator do if the vehicle slowed down?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Acceleration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A cyclist's velocity changes from 2 m/s to 8 m/s in 3 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" cy="2377440"/>
          </a:xfrm>
          <a:prstGeom prst="rect">
            <a:avLst/>
          </a:prstGeom>
          <a:solidFill>
            <a:srgbClr val="2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6264A"/>
                </a:solidFill>
                <a:latin typeface="Aptos"/>
              </a:defRPr>
            </a:pPr>
            <a:r>
              <a:t>INITIAL VELOCITY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58568"/>
            <a:ext cx="3017520" cy="17190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2B3546"/>
                </a:solidFill>
                <a:latin typeface="Aptos"/>
              </a:defRPr>
            </a:pPr>
            <a:r>
              <a:t>u = 2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82296" cy="2377440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19656"/>
            <a:ext cx="301752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6264A"/>
                </a:solidFill>
                <a:latin typeface="Aptos"/>
              </a:defRPr>
            </a:pPr>
            <a:r>
              <a:t>FINAL VELOCITY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58568"/>
            <a:ext cx="3017520" cy="17190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2B3546"/>
                </a:solidFill>
                <a:latin typeface="Aptos"/>
              </a:defRPr>
            </a:pPr>
            <a:r>
              <a:t>v = 8 m/s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9164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91640"/>
            <a:ext cx="82296" cy="2377440"/>
          </a:xfrm>
          <a:prstGeom prst="rect">
            <a:avLst/>
          </a:prstGeom>
          <a:solidFill>
            <a:srgbClr val="FA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819656"/>
            <a:ext cx="301752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6264A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58568"/>
            <a:ext cx="3017520" cy="17190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2B3546"/>
                </a:solidFill>
                <a:latin typeface="Aptos"/>
              </a:defRPr>
            </a:pPr>
            <a:r>
              <a:t>t = 3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10607040" cy="68580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16264A"/>
                </a:solidFill>
                <a:latin typeface="Aptos"/>
              </a:defRPr>
            </a:pPr>
            <a:r>
              <a:t>a = (v − u) ÷ t = (8 − 2) ÷ 3 = 2 m/s²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687587"/>
                </a:solidFill>
                <a:latin typeface="Aptos"/>
              </a:defRPr>
            </a:pPr>
            <a:r>
              <a:t>The positive result means velocity increased in the chosen positive direction.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Motion graphs: what do they tell 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A graph can show how motion changes with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82296" cy="2423160"/>
          </a:xfrm>
          <a:prstGeom prst="rect">
            <a:avLst/>
          </a:prstGeom>
          <a:solidFill>
            <a:srgbClr val="2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6264A"/>
                </a:solidFill>
                <a:latin typeface="Aptos"/>
              </a:defRPr>
            </a:pPr>
            <a:r>
              <a:t>DISTANCE–TIME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04288"/>
            <a:ext cx="3063240" cy="176479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Steeper line = greater speed.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82296" cy="2423160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6537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6264A"/>
                </a:solidFill>
                <a:latin typeface="Aptos"/>
              </a:defRPr>
            </a:pPr>
            <a:r>
              <a:t>VELOCITY–TIME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04288"/>
            <a:ext cx="3063240" cy="176479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B3546"/>
                </a:solidFill>
                <a:latin typeface="Aptos"/>
              </a:defRPr>
            </a:pPr>
            <a:r>
              <a:t>Slope shows acceleration.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82296" cy="2423160"/>
          </a:xfrm>
          <a:prstGeom prst="rect">
            <a:avLst/>
          </a:prstGeom>
          <a:solidFill>
            <a:srgbClr val="84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865376"/>
            <a:ext cx="306324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6264A"/>
                </a:solidFill>
                <a:latin typeface="Aptos"/>
              </a:defRPr>
            </a:pPr>
            <a:r>
              <a:t>FLAT VELOCITY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304288"/>
            <a:ext cx="3063240" cy="176479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B3546"/>
                </a:solidFill>
                <a:latin typeface="Aptos"/>
              </a:defRPr>
            </a:pPr>
            <a:r>
              <a:t>Velocity is constant; acceleration is zero.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10241280" cy="45720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687587"/>
                </a:solidFill>
                <a:latin typeface="Aptos"/>
              </a:defRPr>
            </a:pPr>
            <a:r>
              <a:t>Extension / include only if your class has studied graphs.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Science myth-busters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Discuss whether each statement is true or false.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3383280"/>
          </a:xfrm>
          <a:prstGeom prst="rect">
            <a:avLst/>
          </a:prstGeom>
          <a:noFill/>
        </p:spPr>
        <p:txBody>
          <a:bodyPr wrap="square" lIns="73152" tIns="73152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B3546"/>
                </a:solidFill>
                <a:latin typeface="Aptos"/>
              </a:defRPr>
            </a:pPr>
            <a:r>
              <a:t>•  “Mass and weight are the same thing.”</a:t>
            </a:r>
          </a:p>
          <a:p>
            <a:pPr>
              <a:spcAft>
                <a:spcPts val="1200"/>
              </a:spcAft>
              <a:defRPr sz="2100">
                <a:solidFill>
                  <a:srgbClr val="2B3546"/>
                </a:solidFill>
                <a:latin typeface="Aptos"/>
              </a:defRPr>
            </a:pPr>
            <a:r>
              <a:t>•  “A person can travel a distance and end with zero displacement.”</a:t>
            </a:r>
          </a:p>
          <a:p>
            <a:pPr>
              <a:spcAft>
                <a:spcPts val="1200"/>
              </a:spcAft>
              <a:defRPr sz="2100">
                <a:solidFill>
                  <a:srgbClr val="2B3546"/>
                </a:solidFill>
                <a:latin typeface="Aptos"/>
              </a:defRPr>
            </a:pPr>
            <a:r>
              <a:t>•  “An object moving in a circle at constant speed has changing velocity.”</a:t>
            </a:r>
          </a:p>
          <a:p>
            <a:pPr>
              <a:spcAft>
                <a:spcPts val="1200"/>
              </a:spcAft>
              <a:defRPr sz="2100">
                <a:solidFill>
                  <a:srgbClr val="2B3546"/>
                </a:solidFill>
                <a:latin typeface="Aptos"/>
              </a:defRPr>
            </a:pPr>
            <a:r>
              <a:t>•  “Acceleration always means speeding up.”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241280" cy="50292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99A91"/>
                </a:solidFill>
                <a:latin typeface="Aptos"/>
              </a:defRPr>
            </a:pPr>
            <a:r>
              <a:t>Explain your reasoning. Don't just say true or false!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Quick-fire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Answer individually, then compare with a partner.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4389120"/>
          </a:xfrm>
          <a:prstGeom prst="rect">
            <a:avLst/>
          </a:prstGeom>
          <a:noFill/>
        </p:spPr>
        <p:txBody>
          <a:bodyPr wrap="square" lIns="73152" t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B3546"/>
                </a:solidFill>
                <a:latin typeface="Aptos"/>
              </a:defRPr>
            </a:pPr>
            <a:r>
              <a:t>•  1. Is temperature scalar or vector?</a:t>
            </a:r>
          </a:p>
          <a:p>
            <a:pPr>
              <a:spcAft>
                <a:spcPts val="1200"/>
              </a:spcAft>
              <a:defRPr sz="1900">
                <a:solidFill>
                  <a:srgbClr val="2B3546"/>
                </a:solidFill>
                <a:latin typeface="Aptos"/>
              </a:defRPr>
            </a:pPr>
            <a:r>
              <a:t>•  2. What is the SI unit of weight?</a:t>
            </a:r>
          </a:p>
          <a:p>
            <a:pPr>
              <a:spcAft>
                <a:spcPts val="1200"/>
              </a:spcAft>
              <a:defRPr sz="1900">
                <a:solidFill>
                  <a:srgbClr val="2B3546"/>
                </a:solidFill>
                <a:latin typeface="Aptos"/>
              </a:defRPr>
            </a:pPr>
            <a:r>
              <a:t>•  3. A child walks 10 m north, then 10 m south. What is the displacement?</a:t>
            </a:r>
          </a:p>
          <a:p>
            <a:pPr>
              <a:spcAft>
                <a:spcPts val="1200"/>
              </a:spcAft>
              <a:defRPr sz="1900">
                <a:solidFill>
                  <a:srgbClr val="2B3546"/>
                </a:solidFill>
                <a:latin typeface="Aptos"/>
              </a:defRPr>
            </a:pPr>
            <a:r>
              <a:t>•  4. A car covers 100 m in 5 s. What is its average speed?</a:t>
            </a:r>
          </a:p>
          <a:p>
            <a:pPr>
              <a:spcAft>
                <a:spcPts val="1200"/>
              </a:spcAft>
              <a:defRPr sz="1900">
                <a:solidFill>
                  <a:srgbClr val="2B3546"/>
                </a:solidFill>
                <a:latin typeface="Aptos"/>
              </a:defRPr>
            </a:pPr>
            <a:r>
              <a:t>•  5. Velocity changes from 4 m/s to 10 m/s in 2 s. Find acceleration.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828800"/>
            <a:ext cx="2560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32520" y="1828800"/>
            <a:ext cx="82296" cy="3383280"/>
          </a:xfrm>
          <a:prstGeom prst="rect">
            <a:avLst/>
          </a:prstGeom>
          <a:solidFill>
            <a:srgbClr val="FA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33688" y="1956816"/>
            <a:ext cx="219456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A"/>
                </a:solidFill>
                <a:latin typeface="Aptos"/>
              </a:defRPr>
            </a:pPr>
            <a:r>
              <a:t>ANSWER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3688" y="2395728"/>
            <a:ext cx="2194560" cy="272491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B3546"/>
                </a:solidFill>
                <a:latin typeface="Aptos"/>
              </a:defRPr>
            </a:pPr>
            <a:r>
              <a:t>1. Scalar</a:t>
            </a:r>
          </a:p>
          <a:p>
            <a:pPr>
              <a:spcAft>
                <a:spcPts val="700"/>
              </a:spcAft>
              <a:defRPr sz="1700" b="0">
                <a:solidFill>
                  <a:srgbClr val="2B3546"/>
                </a:solidFill>
                <a:latin typeface="Aptos"/>
              </a:defRPr>
            </a:pPr>
            <a:r>
              <a:t>2. Newton (N)</a:t>
            </a:r>
          </a:p>
          <a:p>
            <a:pPr>
              <a:spcAft>
                <a:spcPts val="700"/>
              </a:spcAft>
              <a:defRPr sz="1700" b="0">
                <a:solidFill>
                  <a:srgbClr val="2B3546"/>
                </a:solidFill>
                <a:latin typeface="Aptos"/>
              </a:defRPr>
            </a:pPr>
            <a:r>
              <a:t>3. 0 m</a:t>
            </a:r>
          </a:p>
          <a:p>
            <a:pPr>
              <a:spcAft>
                <a:spcPts val="700"/>
              </a:spcAft>
              <a:defRPr sz="1700" b="0">
                <a:solidFill>
                  <a:srgbClr val="2B3546"/>
                </a:solidFill>
                <a:latin typeface="Aptos"/>
              </a:defRPr>
            </a:pPr>
            <a:r>
              <a:t>4. 20 m/s</a:t>
            </a:r>
          </a:p>
          <a:p>
            <a:pPr>
              <a:spcAft>
                <a:spcPts val="700"/>
              </a:spcAft>
              <a:defRPr sz="1700" b="0">
                <a:solidFill>
                  <a:srgbClr val="2B3546"/>
                </a:solidFill>
                <a:latin typeface="Aptos"/>
              </a:defRPr>
            </a:pPr>
            <a:r>
              <a:t>5. 3 m/s²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943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6264A"/>
                </a:solidFill>
                <a:latin typeface="Aptos"/>
              </a:defRPr>
            </a:pPr>
            <a: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789920" cy="36576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Before you go, complete these three prompts.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9436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87587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82296" cy="2377440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56816"/>
            <a:ext cx="297180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6264A"/>
                </a:solidFill>
                <a:latin typeface="Aptos"/>
              </a:defRPr>
            </a:pPr>
            <a:r>
              <a:t>I CAN EXPLAIN…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95728"/>
            <a:ext cx="2971800" cy="17190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B3546"/>
                </a:solidFill>
                <a:latin typeface="Aptos"/>
              </a:defRPr>
            </a:pPr>
            <a:r>
              <a:t>One pair of quantities that are often confused.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82296" cy="2377440"/>
          </a:xfrm>
          <a:prstGeom prst="rect">
            <a:avLst/>
          </a:prstGeom>
          <a:solidFill>
            <a:srgbClr val="FA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956816"/>
            <a:ext cx="297180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6264A"/>
                </a:solidFill>
                <a:latin typeface="Aptos"/>
              </a:defRPr>
            </a:pPr>
            <a:r>
              <a:t>I CAN CALCULATE…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95728"/>
            <a:ext cx="2971800" cy="17190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B3546"/>
                </a:solidFill>
                <a:latin typeface="Aptos"/>
              </a:defRPr>
            </a:pPr>
            <a:r>
              <a:t>One formula from today's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82296" cy="2377440"/>
          </a:xfrm>
          <a:prstGeom prst="rect">
            <a:avLst/>
          </a:prstGeom>
          <a:solidFill>
            <a:srgbClr val="EF6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56816"/>
            <a:ext cx="2971800" cy="3474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6264A"/>
                </a:solidFill>
                <a:latin typeface="Aptos"/>
              </a:defRPr>
            </a:pPr>
            <a:r>
              <a:t>I STILL WONDER…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2971800" cy="1719072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B3546"/>
                </a:solidFill>
                <a:latin typeface="Aptos"/>
              </a:defRPr>
            </a:pPr>
            <a:r>
              <a:t>One question about motion.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lIns="73152" rIns="73152" tIns="54864" bIns="36576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687587"/>
                </a:solidFill>
                <a:latin typeface="Aptos"/>
              </a:defRPr>
            </a:pPr>
            <a:r>
              <a:t>Teacher note: adjust formula depth and graph content to your exact Nepal Class 7 textbook.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6264A"/>
                </a:solidFill>
                <a:latin typeface="Aptos"/>
              </a:defRPr>
            </a:pPr>
            <a:r>
              <a:t>Same mass. Different worlds!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47472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Imagine taking the same 60 kg person to Earth, the Moon and Jupiter.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4864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ight_earth_moon_jupit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400800" cy="33649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1645920"/>
            <a:ext cx="4069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60920" y="1645920"/>
            <a:ext cx="82296" cy="1051560"/>
          </a:xfrm>
          <a:prstGeom prst="rect">
            <a:avLst/>
          </a:prstGeom>
          <a:solidFill>
            <a:srgbClr val="2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755648"/>
            <a:ext cx="3749040" cy="329184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6264A"/>
                </a:solidFill>
                <a:latin typeface="Aptos"/>
              </a:defRPr>
            </a:pPr>
            <a:r>
              <a:t>🌍 EARTH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167128"/>
            <a:ext cx="3749040" cy="45719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546"/>
                </a:solidFill>
                <a:latin typeface="Aptos"/>
              </a:defRPr>
            </a:pPr>
            <a:r>
              <a:t>g ≈ 9.81 N/kg</a:t>
            </a:r>
          </a:p>
          <a:p>
            <a:pPr>
              <a:spcAft>
                <a:spcPts val="600"/>
              </a:spcAft>
              <a:defRPr sz="1600" b="0">
                <a:solidFill>
                  <a:srgbClr val="2B3546"/>
                </a:solidFill>
                <a:latin typeface="Aptos"/>
              </a:defRPr>
            </a:pPr>
            <a:r>
              <a:t>Weight ≈ 589 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880360"/>
            <a:ext cx="4069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880360"/>
            <a:ext cx="82296" cy="1051560"/>
          </a:xfrm>
          <a:prstGeom prst="rect">
            <a:avLst/>
          </a:prstGeom>
          <a:solidFill>
            <a:srgbClr val="84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990088"/>
            <a:ext cx="3749040" cy="329184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6264A"/>
                </a:solidFill>
                <a:latin typeface="Aptos"/>
              </a:defRPr>
            </a:pPr>
            <a:r>
              <a:t>🌙 MOON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3749040" cy="45719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546"/>
                </a:solidFill>
                <a:latin typeface="Aptos"/>
              </a:defRPr>
            </a:pPr>
            <a:r>
              <a:t>g ≈ 1.62 N/kg</a:t>
            </a:r>
          </a:p>
          <a:p>
            <a:pPr>
              <a:spcAft>
                <a:spcPts val="600"/>
              </a:spcAft>
              <a:defRPr sz="1600" b="0">
                <a:solidFill>
                  <a:srgbClr val="2B3546"/>
                </a:solidFill>
                <a:latin typeface="Aptos"/>
              </a:defRPr>
            </a:pPr>
            <a:r>
              <a:t>Weight ≈ 97 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114800"/>
            <a:ext cx="4069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4114800"/>
            <a:ext cx="82296" cy="1051560"/>
          </a:xfrm>
          <a:prstGeom prst="rect">
            <a:avLst/>
          </a:prstGeom>
          <a:solidFill>
            <a:srgbClr val="EF6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4224528"/>
            <a:ext cx="3749040" cy="329184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6264A"/>
                </a:solidFill>
                <a:latin typeface="Aptos"/>
              </a:defRPr>
            </a:pPr>
            <a:r>
              <a:t>🪐 JUPITER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636008"/>
            <a:ext cx="3749040" cy="45719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546"/>
                </a:solidFill>
                <a:latin typeface="Aptos"/>
              </a:defRPr>
            </a:pPr>
            <a:r>
              <a:t>g ≈ 24.79 N/kg</a:t>
            </a:r>
          </a:p>
          <a:p>
            <a:pPr>
              <a:spcAft>
                <a:spcPts val="600"/>
              </a:spcAft>
              <a:defRPr sz="1600" b="0">
                <a:solidFill>
                  <a:srgbClr val="2B3546"/>
                </a:solidFill>
                <a:latin typeface="Aptos"/>
              </a:defRPr>
            </a:pPr>
            <a:r>
              <a:t>Weight ≈ 1,487 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10607040" cy="68580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6264A"/>
                </a:solidFill>
                <a:latin typeface="Aptos"/>
              </a:defRPr>
            </a:pPr>
            <a:r>
              <a:t>Mass stays 60 kg everywhere. Weight changes because gravitational field strength changes.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89320"/>
            <a:ext cx="10607040" cy="32004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687587"/>
                </a:solidFill>
                <a:latin typeface="Aptos"/>
              </a:defRPr>
            </a:pPr>
            <a:r>
              <a:t>Jupiter’s value is an approximate cloud-top gravity; Jupiter has no solid surface like Earth’s.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6264A"/>
                </a:solidFill>
                <a:latin typeface="Aptos"/>
              </a:defRPr>
            </a:pPr>
            <a:r>
              <a:t>Your turn: calculate your 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47472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87587"/>
                </a:solidFill>
                <a:latin typeface="Aptos"/>
              </a:defRPr>
            </a:pPr>
            <a:r>
              <a:t>Use W = mg. Use g = 9.81 on Earth, 1.62 on the Moon and 24.79 on Jupiter.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960120" cy="54864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82296" cy="1920240"/>
          </a:xfrm>
          <a:prstGeom prst="rect">
            <a:avLst/>
          </a:prstGeom>
          <a:solidFill>
            <a:srgbClr val="2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55648"/>
            <a:ext cx="3063240" cy="329184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6264A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3063240" cy="132588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546"/>
                </a:solidFill>
                <a:latin typeface="Aptos"/>
              </a:defRPr>
            </a:pPr>
            <a:r>
              <a:t>Write your mass in kilograms.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82296" cy="1920240"/>
          </a:xfrm>
          <a:prstGeom prst="rect">
            <a:avLst/>
          </a:prstGeom>
          <a:solidFill>
            <a:srgbClr val="19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55648"/>
            <a:ext cx="3063240" cy="329184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6264A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67128"/>
            <a:ext cx="3063240" cy="132588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546"/>
                </a:solidFill>
                <a:latin typeface="Aptos"/>
              </a:defRPr>
            </a:pPr>
            <a:r>
              <a:t>Multiply mass by the planet’s g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459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645920"/>
            <a:ext cx="82296" cy="1920240"/>
          </a:xfrm>
          <a:prstGeom prst="rect">
            <a:avLst/>
          </a:prstGeom>
          <a:solidFill>
            <a:srgbClr val="FA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755648"/>
            <a:ext cx="3063240" cy="329184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6264A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167128"/>
            <a:ext cx="3063240" cy="132588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546"/>
                </a:solidFill>
                <a:latin typeface="Aptos"/>
              </a:defRPr>
            </a:pPr>
            <a:r>
              <a:t>Compare the three weights in newtons.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5486400" cy="155448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6264A"/>
                </a:solidFill>
                <a:latin typeface="Aptos"/>
              </a:defRPr>
            </a:pPr>
            <a:r>
              <a:t>Example: mass = 40 kg</a:t>
            </a:r>
          </a:p>
          <a:p>
            <a:pPr>
              <a:spcAft>
                <a:spcPts val="600"/>
              </a:spcAft>
              <a:defRPr sz="1900" b="1">
                <a:solidFill>
                  <a:srgbClr val="16264A"/>
                </a:solidFill>
                <a:latin typeface="Aptos"/>
              </a:defRPr>
            </a:pPr>
            <a:r>
              <a:t>Earth: 40 × 9.81 ≈ 392 N</a:t>
            </a:r>
          </a:p>
          <a:p>
            <a:pPr>
              <a:spcAft>
                <a:spcPts val="600"/>
              </a:spcAft>
              <a:defRPr sz="1900" b="1">
                <a:solidFill>
                  <a:srgbClr val="16264A"/>
                </a:solidFill>
                <a:latin typeface="Aptos"/>
              </a:defRPr>
            </a:pPr>
            <a:r>
              <a:t>Moon: 40 × 1.62 ≈ 65 N</a:t>
            </a:r>
          </a:p>
          <a:p>
            <a:pPr>
              <a:spcAft>
                <a:spcPts val="600"/>
              </a:spcAft>
              <a:defRPr sz="1900" b="1">
                <a:solidFill>
                  <a:srgbClr val="16264A"/>
                </a:solidFill>
                <a:latin typeface="Aptos"/>
              </a:defRPr>
            </a:pPr>
            <a:r>
              <a:t>Jupiter: 40 × 24.79 ≈ 992 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977639"/>
            <a:ext cx="4389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977639"/>
            <a:ext cx="82296" cy="1463040"/>
          </a:xfrm>
          <a:prstGeom prst="rect">
            <a:avLst/>
          </a:prstGeom>
          <a:solidFill>
            <a:srgbClr val="EF6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087368"/>
            <a:ext cx="4069080" cy="329184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6264A"/>
                </a:solidFill>
                <a:latin typeface="Aptos"/>
              </a:defRPr>
            </a:pPr>
            <a:r>
              <a:t>THINK ABOUT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4069080" cy="86868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546"/>
                </a:solidFill>
                <a:latin typeface="Aptos"/>
              </a:defRPr>
            </a:pPr>
            <a:r>
              <a:t>If your weight changes, does your mass change too?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