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question: where does the energy go?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students to predict before explaining.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goals and units.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 formula assumes force and displacement are parallel.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signed-work terms only as required by local curriculum.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for examples where friction is useful and harmful.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 against friction assumes constant opposing friction.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energy examples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Square speed before multiplying.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g value specified by the textbook.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Assumes steady lifting and ignores losses.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systems transfer energy to surroundings.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Power is a rate, not a force.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Correct vocabulary confusion.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students to show working and units.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exit ticket to plan reteaching.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51560"/>
            <a:ext cx="6675120" cy="182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3800" b="1">
                <a:solidFill>
                  <a:srgbClr val="F8FAFF"/>
                </a:solidFill>
                <a:latin typeface="Aptos"/>
              </a:rPr>
              <a:t>WORK, FRICTION,
ENERGY &amp; POWER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63240"/>
            <a:ext cx="64008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100" b="0">
                <a:solidFill>
                  <a:srgbClr val="49D3E0"/>
                </a:solidFill>
                <a:latin typeface="Aptos"/>
              </a:rPr>
              <a:t>Class 7 • Interactive Physics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86200"/>
            <a:ext cx="6492240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000" b="0">
                <a:solidFill>
                  <a:srgbClr val="F8FAFF"/>
                </a:solidFill>
                <a:latin typeface="Aptos"/>
              </a:rPr>
              <a:t>Push it. Lift it. Make it move. Measure how quickly work is done.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2743200"/>
            <a:ext cx="1554480" cy="1188720"/>
          </a:xfrm>
          <a:prstGeom prst="roundRect">
            <a:avLst/>
          </a:prstGeom>
          <a:solidFill>
            <a:srgbClr val="FFBE41"/>
          </a:solidFill>
          <a:ln>
            <a:solidFill>
              <a:srgbClr val="FF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7040880" y="3337560"/>
            <a:ext cx="1188720" cy="0"/>
          </a:xfrm>
          <a:prstGeom prst="line">
            <a:avLst/>
          </a:prstGeom>
          <a:ln w="50800">
            <a:solidFill>
              <a:srgbClr val="51C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966960" y="3337560"/>
            <a:ext cx="1005840" cy="0"/>
          </a:xfrm>
          <a:prstGeom prst="line">
            <a:avLst/>
          </a:prstGeom>
          <a:ln w="50800">
            <a:solidFill>
              <a:srgbClr val="EF58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995160" y="2834640"/>
            <a:ext cx="118872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51CD92"/>
                </a:solidFill>
                <a:latin typeface="Aptos"/>
              </a:rPr>
              <a:t>PUSH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21240" y="2834640"/>
            <a:ext cx="137160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EF5858"/>
                </a:solidFill>
                <a:latin typeface="Aptos"/>
              </a:rPr>
              <a:t>FRICTION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66360"/>
            <a:ext cx="64008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FFBE41"/>
                </a:solidFill>
                <a:latin typeface="Aptos"/>
              </a:rPr>
              <a:t>Big question: Where does the energy go?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3000" b="1">
                <a:solidFill>
                  <a:srgbClr val="F8FAFF"/>
                </a:solidFill>
                <a:latin typeface="Aptos"/>
              </a:rPr>
              <a:t>Opening mystery • Is work always tiring?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78992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49D3E0"/>
                </a:solidFill>
                <a:latin typeface="Aptos"/>
              </a:rPr>
              <a:t>Predict first; reveal the physics after discussion.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188720" cy="45720"/>
          </a:xfrm>
          <a:prstGeom prst="rect">
            <a:avLst/>
          </a:prstGeom>
          <a:solidFill>
            <a:srgbClr val="FFBE41"/>
          </a:solidFill>
          <a:ln>
            <a:solidFill>
              <a:srgbClr val="FF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82512"/>
            <a:ext cx="502920" cy="2286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AEBED7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3337560" cy="3108960"/>
          </a:xfrm>
          <a:prstGeom prst="roundRect">
            <a:avLst/>
          </a:prstGeom>
          <a:solidFill>
            <a:srgbClr val="182741"/>
          </a:solidFill>
          <a:ln>
            <a:solidFill>
              <a:srgbClr val="4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84248"/>
            <a:ext cx="29718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900" b="1">
                <a:solidFill>
                  <a:srgbClr val="49D3E0"/>
                </a:solidFill>
                <a:latin typeface="Aptos"/>
              </a:rPr>
              <a:t>PUSH A WALL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41448"/>
            <a:ext cx="2971800" cy="24231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600" b="0">
                <a:solidFill>
                  <a:srgbClr val="F8FAFF"/>
                </a:solidFill>
                <a:latin typeface="Aptos"/>
              </a:rPr>
              <a:t>You push hard, but the wall does not move. Is mechanical work done on the wall?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874519"/>
            <a:ext cx="3337560" cy="3108960"/>
          </a:xfrm>
          <a:prstGeom prst="roundRect">
            <a:avLst/>
          </a:prstGeom>
          <a:solidFill>
            <a:srgbClr val="182741"/>
          </a:solidFill>
          <a:ln>
            <a:solidFill>
              <a:srgbClr val="FF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84248"/>
            <a:ext cx="29718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900" b="1">
                <a:solidFill>
                  <a:srgbClr val="FFBE41"/>
                </a:solidFill>
                <a:latin typeface="Aptos"/>
              </a:rPr>
              <a:t>PUSH A BOX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41448"/>
            <a:ext cx="2971800" cy="24231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600" b="0">
                <a:solidFill>
                  <a:srgbClr val="F8FAFF"/>
                </a:solidFill>
                <a:latin typeface="Aptos"/>
              </a:rPr>
              <a:t>The box moves 3 metres in the direction of your push. Is mechanical work done?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874519"/>
            <a:ext cx="3337560" cy="3108960"/>
          </a:xfrm>
          <a:prstGeom prst="roundRect">
            <a:avLst/>
          </a:prstGeom>
          <a:solidFill>
            <a:srgbClr val="182741"/>
          </a:solidFill>
          <a:ln>
            <a:solidFill>
              <a:srgbClr val="51C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984248"/>
            <a:ext cx="29718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900" b="1">
                <a:solidFill>
                  <a:srgbClr val="51CD92"/>
                </a:solidFill>
                <a:latin typeface="Aptos"/>
              </a:rPr>
              <a:t>LIFT A BAG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441448"/>
            <a:ext cx="2971800" cy="24231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600" b="0">
                <a:solidFill>
                  <a:srgbClr val="F8FAFF"/>
                </a:solidFill>
                <a:latin typeface="Aptos"/>
              </a:rPr>
              <a:t>You lift a schoolbag from the floor to a desk. Where does the energy go?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3000" b="1">
                <a:solidFill>
                  <a:srgbClr val="F8FAFF"/>
                </a:solidFill>
                <a:latin typeface="Aptos"/>
              </a:rPr>
              <a:t>Today's learning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78992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49D3E0"/>
                </a:solidFill>
                <a:latin typeface="Aptos"/>
              </a:rPr>
              <a:t>Explain, calculate and connect the ideas.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188720" cy="45720"/>
          </a:xfrm>
          <a:prstGeom prst="rect">
            <a:avLst/>
          </a:prstGeom>
          <a:solidFill>
            <a:srgbClr val="FFBE41"/>
          </a:solidFill>
          <a:ln>
            <a:solidFill>
              <a:srgbClr val="FF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82512"/>
            <a:ext cx="502920" cy="2286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AEBED7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5074920" cy="1508760"/>
          </a:xfrm>
          <a:prstGeom prst="roundRect">
            <a:avLst/>
          </a:prstGeom>
          <a:solidFill>
            <a:srgbClr val="182741"/>
          </a:solidFill>
          <a:ln>
            <a:solidFill>
              <a:srgbClr val="4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01368"/>
            <a:ext cx="4709159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900" b="1">
                <a:solidFill>
                  <a:srgbClr val="49D3E0"/>
                </a:solidFill>
                <a:latin typeface="Aptos"/>
              </a:rPr>
              <a:t>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58568"/>
            <a:ext cx="4709159" cy="82295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600" b="0">
                <a:solidFill>
                  <a:srgbClr val="F8FAFF"/>
                </a:solidFill>
                <a:latin typeface="Aptos"/>
              </a:rPr>
              <a:t>Explain when a force does work and calculate W = F × 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074920" cy="1508760"/>
          </a:xfrm>
          <a:prstGeom prst="roundRect">
            <a:avLst/>
          </a:prstGeom>
          <a:solidFill>
            <a:srgbClr val="182741"/>
          </a:solidFill>
          <a:ln>
            <a:solidFill>
              <a:srgbClr val="EF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01368"/>
            <a:ext cx="4709159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900" b="1">
                <a:solidFill>
                  <a:srgbClr val="EF5858"/>
                </a:solidFill>
                <a:latin typeface="Aptos"/>
              </a:rPr>
              <a:t>FRICTION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58568"/>
            <a:ext cx="4709159" cy="82295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600" b="0">
                <a:solidFill>
                  <a:srgbClr val="F8FAFF"/>
                </a:solidFill>
                <a:latin typeface="Aptos"/>
              </a:rPr>
              <a:t>Describe friction and calculate work against friction.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566160"/>
            <a:ext cx="5074920" cy="1508760"/>
          </a:xfrm>
          <a:prstGeom prst="roundRect">
            <a:avLst/>
          </a:prstGeom>
          <a:solidFill>
            <a:srgbClr val="182741"/>
          </a:solidFill>
          <a:ln>
            <a:solidFill>
              <a:srgbClr val="FF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675887"/>
            <a:ext cx="4709159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900" b="1">
                <a:solidFill>
                  <a:srgbClr val="FFBE41"/>
                </a:solidFill>
                <a:latin typeface="Aptos"/>
              </a:rPr>
              <a:t>ENERGY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133087"/>
            <a:ext cx="4709159" cy="82295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600" b="0">
                <a:solidFill>
                  <a:srgbClr val="F8FAFF"/>
                </a:solidFill>
                <a:latin typeface="Aptos"/>
              </a:rPr>
              <a:t>Compare kinetic and gravitational potential energy.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566160"/>
            <a:ext cx="5074920" cy="1508760"/>
          </a:xfrm>
          <a:prstGeom prst="roundRect">
            <a:avLst/>
          </a:prstGeom>
          <a:solidFill>
            <a:srgbClr val="182741"/>
          </a:solidFill>
          <a:ln>
            <a:solidFill>
              <a:srgbClr val="51C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675887"/>
            <a:ext cx="4709159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900" b="1">
                <a:solidFill>
                  <a:srgbClr val="51CD92"/>
                </a:solidFill>
                <a:latin typeface="Aptos"/>
              </a:rPr>
              <a:t>POWER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133087"/>
            <a:ext cx="4709159" cy="82295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600" b="0">
                <a:solidFill>
                  <a:srgbClr val="F8FAFF"/>
                </a:solidFill>
                <a:latin typeface="Aptos"/>
              </a:rPr>
              <a:t>Calculate power and compare equal work done in different times.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3000" b="1">
                <a:solidFill>
                  <a:srgbClr val="F8FAFF"/>
                </a:solidFill>
                <a:latin typeface="Aptos"/>
              </a:rPr>
              <a:t>1 • Work in physics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78992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49D3E0"/>
                </a:solidFill>
                <a:latin typeface="Aptos"/>
              </a:rPr>
              <a:t>Work requires force and displacement; direction matters.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188720" cy="45720"/>
          </a:xfrm>
          <a:prstGeom prst="rect">
            <a:avLst/>
          </a:prstGeom>
          <a:solidFill>
            <a:srgbClr val="FFBE41"/>
          </a:solidFill>
          <a:ln>
            <a:solidFill>
              <a:srgbClr val="FF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82512"/>
            <a:ext cx="502920" cy="2286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AEBED7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365760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3400" b="1">
                <a:solidFill>
                  <a:srgbClr val="FFBE41"/>
                </a:solidFill>
                <a:latin typeface="Aptos"/>
              </a:rPr>
              <a:t>W = F ×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29768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000" b="1">
                <a:solidFill>
                  <a:srgbClr val="F8FAFF"/>
                </a:solidFill>
                <a:latin typeface="Aptos"/>
              </a:rPr>
              <a:t>Work = force × displacement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3840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800" b="1">
                <a:solidFill>
                  <a:srgbClr val="49D3E0"/>
                </a:solidFill>
                <a:latin typeface="Aptos"/>
              </a:rPr>
              <a:t>Unit: joule (J)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94760"/>
            <a:ext cx="457200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700" b="0">
                <a:solidFill>
                  <a:srgbClr val="F8FAFF"/>
                </a:solidFill>
                <a:latin typeface="Aptos"/>
              </a:rPr>
              <a:t>Example: 20 N moves a box 3 m in the same direction.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26280"/>
            <a:ext cx="41148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FFBE41"/>
                </a:solidFill>
                <a:latin typeface="Aptos"/>
              </a:rPr>
              <a:t>W = 20 × 3 = 60 J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2743200"/>
            <a:ext cx="1463040" cy="1005840"/>
          </a:xfrm>
          <a:prstGeom prst="roundRect">
            <a:avLst/>
          </a:prstGeom>
          <a:solidFill>
            <a:srgbClr val="FFBE41"/>
          </a:solidFill>
          <a:ln>
            <a:solidFill>
              <a:srgbClr val="FF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5760720" y="3246120"/>
            <a:ext cx="1280160" cy="0"/>
          </a:xfrm>
          <a:prstGeom prst="line">
            <a:avLst/>
          </a:prstGeom>
          <a:ln w="50800">
            <a:solidFill>
              <a:srgbClr val="51C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69280" y="4663440"/>
            <a:ext cx="5120640" cy="7315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8FAFF"/>
                </a:solidFill>
                <a:latin typeface="Aptos"/>
              </a:rPr>
              <a:t>If displacement is zero, work done on the object is zero.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3000" b="1">
                <a:solidFill>
                  <a:srgbClr val="F8FAFF"/>
                </a:solidFill>
                <a:latin typeface="Aptos"/>
              </a:rPr>
              <a:t>Work can be positive, negative or zero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78992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49D3E0"/>
                </a:solidFill>
                <a:latin typeface="Aptos"/>
              </a:rPr>
              <a:t>Use signed-work terms as far as your curriculum requires.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188720" cy="45720"/>
          </a:xfrm>
          <a:prstGeom prst="rect">
            <a:avLst/>
          </a:prstGeom>
          <a:solidFill>
            <a:srgbClr val="FFBE41"/>
          </a:solidFill>
          <a:ln>
            <a:solidFill>
              <a:srgbClr val="FF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82512"/>
            <a:ext cx="502920" cy="2286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AEBED7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3337560" cy="3108960"/>
          </a:xfrm>
          <a:prstGeom prst="roundRect">
            <a:avLst/>
          </a:prstGeom>
          <a:solidFill>
            <a:srgbClr val="182741"/>
          </a:solidFill>
          <a:ln>
            <a:solidFill>
              <a:srgbClr val="51C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84248"/>
            <a:ext cx="29718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900" b="1">
                <a:solidFill>
                  <a:srgbClr val="51CD92"/>
                </a:solidFill>
                <a:latin typeface="Aptos"/>
              </a:rPr>
              <a:t>POSITIVE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41448"/>
            <a:ext cx="2971800" cy="24231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600" b="0">
                <a:solidFill>
                  <a:srgbClr val="F8FAFF"/>
                </a:solidFill>
                <a:latin typeface="Aptos"/>
              </a:rPr>
              <a:t>Force has a component in the direction of displacement. Example: pushing a box forward.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874519"/>
            <a:ext cx="3337560" cy="3108960"/>
          </a:xfrm>
          <a:prstGeom prst="roundRect">
            <a:avLst/>
          </a:prstGeom>
          <a:solidFill>
            <a:srgbClr val="182741"/>
          </a:solidFill>
          <a:ln>
            <a:solidFill>
              <a:srgbClr val="EF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84248"/>
            <a:ext cx="29718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900" b="1">
                <a:solidFill>
                  <a:srgbClr val="EF5858"/>
                </a:solidFill>
                <a:latin typeface="Aptos"/>
              </a:rPr>
              <a:t>NEGATIVE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41448"/>
            <a:ext cx="2971800" cy="24231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600" b="0">
                <a:solidFill>
                  <a:srgbClr val="F8FAFF"/>
                </a:solidFill>
                <a:latin typeface="Aptos"/>
              </a:rPr>
              <a:t>Force acts against displacement. Example: friction on a sliding box.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874519"/>
            <a:ext cx="3337560" cy="3108960"/>
          </a:xfrm>
          <a:prstGeom prst="roundRect">
            <a:avLst/>
          </a:prstGeom>
          <a:solidFill>
            <a:srgbClr val="182741"/>
          </a:solidFill>
          <a:ln>
            <a:solidFill>
              <a:srgbClr val="4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984248"/>
            <a:ext cx="29718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900" b="1">
                <a:solidFill>
                  <a:srgbClr val="49D3E0"/>
                </a:solidFill>
                <a:latin typeface="Aptos"/>
              </a:rPr>
              <a:t>ZERO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441448"/>
            <a:ext cx="2971800" cy="24231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600" b="0">
                <a:solidFill>
                  <a:srgbClr val="F8FAFF"/>
                </a:solidFill>
                <a:latin typeface="Aptos"/>
              </a:rPr>
              <a:t>No displacement, or force is perpendicular to displacement. Example: holding a still wall.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3000" b="1">
                <a:solidFill>
                  <a:srgbClr val="F8FAFF"/>
                </a:solidFill>
                <a:latin typeface="Aptos"/>
              </a:rPr>
              <a:t>2 • Friction: helpful and resisting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78992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49D3E0"/>
                </a:solidFill>
                <a:latin typeface="Aptos"/>
              </a:rPr>
              <a:t>Friction opposes relative motion or the tendency to slide.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188720" cy="45720"/>
          </a:xfrm>
          <a:prstGeom prst="rect">
            <a:avLst/>
          </a:prstGeom>
          <a:solidFill>
            <a:srgbClr val="FFBE41"/>
          </a:solidFill>
          <a:ln>
            <a:solidFill>
              <a:srgbClr val="FF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82512"/>
            <a:ext cx="502920" cy="2286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AEBED7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3337560" cy="2468880"/>
          </a:xfrm>
          <a:prstGeom prst="roundRect">
            <a:avLst/>
          </a:prstGeom>
          <a:solidFill>
            <a:srgbClr val="182741"/>
          </a:solidFill>
          <a:ln>
            <a:solidFill>
              <a:srgbClr val="51C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84248"/>
            <a:ext cx="29718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900" b="1">
                <a:solidFill>
                  <a:srgbClr val="51CD92"/>
                </a:solidFill>
                <a:latin typeface="Aptos"/>
              </a:rPr>
              <a:t>FRICTION HELPS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41448"/>
            <a:ext cx="2971800" cy="1783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600" b="0">
                <a:solidFill>
                  <a:srgbClr val="F8FAFF"/>
                </a:solidFill>
                <a:latin typeface="Aptos"/>
              </a:rPr>
              <a:t>Walking, gripping a pencil and braking a bicycle.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874519"/>
            <a:ext cx="3337560" cy="2468880"/>
          </a:xfrm>
          <a:prstGeom prst="roundRect">
            <a:avLst/>
          </a:prstGeom>
          <a:solidFill>
            <a:srgbClr val="182741"/>
          </a:solidFill>
          <a:ln>
            <a:solidFill>
              <a:srgbClr val="EF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84248"/>
            <a:ext cx="29718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900" b="1">
                <a:solidFill>
                  <a:srgbClr val="EF5858"/>
                </a:solidFill>
                <a:latin typeface="Aptos"/>
              </a:rPr>
              <a:t>FRICTION CAN WASTE ENERGY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41448"/>
            <a:ext cx="2971800" cy="1783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600" b="0">
                <a:solidFill>
                  <a:srgbClr val="F8FAFF"/>
                </a:solidFill>
                <a:latin typeface="Aptos"/>
              </a:rPr>
              <a:t>Moving parts warm up; a sliding box slows.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3000" b="1">
                <a:solidFill>
                  <a:srgbClr val="F8FAFF"/>
                </a:solidFill>
                <a:latin typeface="Aptos"/>
              </a:rPr>
              <a:t>3 • Work against friction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78992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49D3E0"/>
                </a:solidFill>
                <a:latin typeface="Aptos"/>
              </a:rPr>
              <a:t>For constant friction opposing motion, transferred energy = friction × distance.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188720" cy="45720"/>
          </a:xfrm>
          <a:prstGeom prst="rect">
            <a:avLst/>
          </a:prstGeom>
          <a:solidFill>
            <a:srgbClr val="FFBE41"/>
          </a:solidFill>
          <a:ln>
            <a:solidFill>
              <a:srgbClr val="FF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82512"/>
            <a:ext cx="502920" cy="2286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AEBED7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576072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900" b="1">
                <a:solidFill>
                  <a:srgbClr val="FFBE41"/>
                </a:solidFill>
                <a:latin typeface="Aptos"/>
              </a:rPr>
              <a:t>W against friction = f ×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56692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900" b="0">
                <a:solidFill>
                  <a:srgbClr val="F8FAFF"/>
                </a:solidFill>
                <a:latin typeface="Aptos"/>
              </a:rPr>
              <a:t>Example: friction = 15 N; distance = 4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493776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49D3E0"/>
                </a:solidFill>
                <a:latin typeface="Aptos"/>
              </a:rPr>
              <a:t>W = 15 × 4 = 60 J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2788920"/>
            <a:ext cx="1463040" cy="1005840"/>
          </a:xfrm>
          <a:prstGeom prst="roundRect">
            <a:avLst/>
          </a:prstGeom>
          <a:solidFill>
            <a:srgbClr val="FFBE41"/>
          </a:solidFill>
          <a:ln>
            <a:solidFill>
              <a:srgbClr val="FF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6126480" y="3246120"/>
            <a:ext cx="1188720" cy="0"/>
          </a:xfrm>
          <a:prstGeom prst="line">
            <a:avLst/>
          </a:prstGeom>
          <a:ln w="50800">
            <a:solidFill>
              <a:srgbClr val="51C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9144000" y="3566160"/>
            <a:ext cx="1554480" cy="0"/>
          </a:xfrm>
          <a:prstGeom prst="line">
            <a:avLst/>
          </a:prstGeom>
          <a:ln w="50800">
            <a:solidFill>
              <a:srgbClr val="EF58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14400" y="4846320"/>
            <a:ext cx="100584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600" b="0">
                <a:solidFill>
                  <a:srgbClr val="AEBED7"/>
                </a:solidFill>
                <a:latin typeface="Aptos"/>
              </a:rPr>
              <a:t>This assumes friction is constant over the distance.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3000" b="1">
                <a:solidFill>
                  <a:srgbClr val="F8FAFF"/>
                </a:solidFill>
                <a:latin typeface="Aptos"/>
              </a:rPr>
              <a:t>4 • Energy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78992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49D3E0"/>
                </a:solidFill>
                <a:latin typeface="Aptos"/>
              </a:rPr>
              <a:t>Energy is measured in joules.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188720" cy="45720"/>
          </a:xfrm>
          <a:prstGeom prst="rect">
            <a:avLst/>
          </a:prstGeom>
          <a:solidFill>
            <a:srgbClr val="FFBE41"/>
          </a:solidFill>
          <a:ln>
            <a:solidFill>
              <a:srgbClr val="FF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82512"/>
            <a:ext cx="502920" cy="2286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AEBED7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3337560" cy="3108960"/>
          </a:xfrm>
          <a:prstGeom prst="roundRect">
            <a:avLst/>
          </a:prstGeom>
          <a:solidFill>
            <a:srgbClr val="182741"/>
          </a:solidFill>
          <a:ln>
            <a:solidFill>
              <a:srgbClr val="4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84248"/>
            <a:ext cx="29718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900" b="1">
                <a:solidFill>
                  <a:srgbClr val="49D3E0"/>
                </a:solidFill>
                <a:latin typeface="Aptos"/>
              </a:rPr>
              <a:t>KINETIC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41448"/>
            <a:ext cx="2971800" cy="24231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600" b="0">
                <a:solidFill>
                  <a:srgbClr val="F8FAFF"/>
                </a:solidFill>
                <a:latin typeface="Aptos"/>
              </a:rPr>
              <a:t>Energy associated with motion: a moving ball, bicycle or bus.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874519"/>
            <a:ext cx="3337560" cy="3108960"/>
          </a:xfrm>
          <a:prstGeom prst="roundRect">
            <a:avLst/>
          </a:prstGeom>
          <a:solidFill>
            <a:srgbClr val="182741"/>
          </a:solidFill>
          <a:ln>
            <a:solidFill>
              <a:srgbClr val="FF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84248"/>
            <a:ext cx="29718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900" b="1">
                <a:solidFill>
                  <a:srgbClr val="FFBE41"/>
                </a:solidFill>
                <a:latin typeface="Aptos"/>
              </a:rPr>
              <a:t>GRAVITATIONAL POTENTIAL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41448"/>
            <a:ext cx="2971800" cy="24231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600" b="0">
                <a:solidFill>
                  <a:srgbClr val="F8FAFF"/>
                </a:solidFill>
                <a:latin typeface="Aptos"/>
              </a:rPr>
              <a:t>Energy associated with height in a gravitational field.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874519"/>
            <a:ext cx="3337560" cy="3108960"/>
          </a:xfrm>
          <a:prstGeom prst="roundRect">
            <a:avLst/>
          </a:prstGeom>
          <a:solidFill>
            <a:srgbClr val="182741"/>
          </a:solidFill>
          <a:ln>
            <a:solidFill>
              <a:srgbClr val="51C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984248"/>
            <a:ext cx="29718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900" b="1">
                <a:solidFill>
                  <a:srgbClr val="51CD92"/>
                </a:solidFill>
                <a:latin typeface="Aptos"/>
              </a:rPr>
              <a:t>TRANSFERS &amp;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441448"/>
            <a:ext cx="2971800" cy="24231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600" b="0">
                <a:solidFill>
                  <a:srgbClr val="F8FAFF"/>
                </a:solidFill>
                <a:latin typeface="Aptos"/>
              </a:rPr>
              <a:t>As an object falls, gravitational potential energy decreases while kinetic energy increases.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3000" b="1">
                <a:solidFill>
                  <a:srgbClr val="F8FAFF"/>
                </a:solidFill>
                <a:latin typeface="Aptos"/>
              </a:rPr>
              <a:t>5 • Kinetic energy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78992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49D3E0"/>
                </a:solidFill>
                <a:latin typeface="Aptos"/>
              </a:rPr>
              <a:t>Motion energy depends on mass and speed.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188720" cy="45720"/>
          </a:xfrm>
          <a:prstGeom prst="rect">
            <a:avLst/>
          </a:prstGeom>
          <a:solidFill>
            <a:srgbClr val="FFBE41"/>
          </a:solidFill>
          <a:ln>
            <a:solidFill>
              <a:srgbClr val="FF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82512"/>
            <a:ext cx="502920" cy="2286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AEBED7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411480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3400" b="1">
                <a:solidFill>
                  <a:srgbClr val="FFBE41"/>
                </a:solidFill>
                <a:latin typeface="Aptos"/>
              </a:rPr>
              <a:t>KE = ½mv²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484632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800" b="1">
                <a:solidFill>
                  <a:srgbClr val="49D3E0"/>
                </a:solidFill>
                <a:latin typeface="Aptos"/>
              </a:rPr>
              <a:t>m = mass (kg)     v = speed (m/s)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45720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800" b="0">
                <a:solidFill>
                  <a:srgbClr val="F8FAFF"/>
                </a:solidFill>
                <a:latin typeface="Aptos"/>
              </a:rPr>
              <a:t>Example: m = 2 kg, v = 5 m/s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50292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300" b="1">
                <a:solidFill>
                  <a:srgbClr val="FFBE41"/>
                </a:solidFill>
                <a:latin typeface="Aptos"/>
              </a:rPr>
              <a:t>KE = ½ × 2 × 5² = 25 J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560320"/>
            <a:ext cx="1097280" cy="1097280"/>
          </a:xfrm>
          <a:prstGeom prst="roundRect">
            <a:avLst/>
          </a:prstGeom>
          <a:solidFill>
            <a:srgbClr val="49D3E0"/>
          </a:solidFill>
          <a:ln>
            <a:solidFill>
              <a:srgbClr val="4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595360" y="3108960"/>
            <a:ext cx="1828800" cy="0"/>
          </a:xfrm>
          <a:prstGeom prst="line">
            <a:avLst/>
          </a:prstGeom>
          <a:ln w="50800">
            <a:solidFill>
              <a:srgbClr val="FFBE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0" y="4023360"/>
            <a:ext cx="4572000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900" b="1">
                <a:solidFill>
                  <a:srgbClr val="F8FAFF"/>
                </a:solidFill>
                <a:latin typeface="Aptos"/>
              </a:rPr>
              <a:t>Double speed → 4× kinetic energy (same mass).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3000" b="1">
                <a:solidFill>
                  <a:srgbClr val="F8FAFF"/>
                </a:solidFill>
                <a:latin typeface="Aptos"/>
              </a:rPr>
              <a:t>6 • Gravitational potential energy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78992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49D3E0"/>
                </a:solidFill>
                <a:latin typeface="Aptos"/>
              </a:rPr>
              <a:t>Lifting an object increases its gravitational potential energy.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188720" cy="45720"/>
          </a:xfrm>
          <a:prstGeom prst="rect">
            <a:avLst/>
          </a:prstGeom>
          <a:solidFill>
            <a:srgbClr val="FFBE41"/>
          </a:solidFill>
          <a:ln>
            <a:solidFill>
              <a:srgbClr val="FF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82512"/>
            <a:ext cx="502920" cy="2286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AEBED7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411480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3400" b="1">
                <a:solidFill>
                  <a:srgbClr val="FFBE41"/>
                </a:solidFill>
                <a:latin typeface="Aptos"/>
              </a:rPr>
              <a:t>PE = mgh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603504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800" b="1">
                <a:solidFill>
                  <a:srgbClr val="49D3E0"/>
                </a:solidFill>
                <a:latin typeface="Aptos"/>
              </a:rPr>
              <a:t>m = mass • g = gravitational acceleration • h = height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59436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800" b="0">
                <a:solidFill>
                  <a:srgbClr val="F8FAFF"/>
                </a:solidFill>
                <a:latin typeface="Aptos"/>
              </a:rPr>
              <a:t>Example: 3 kg at 5 m, using g = 9.8 m/s²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54864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300" b="1">
                <a:solidFill>
                  <a:srgbClr val="FFBE41"/>
                </a:solidFill>
                <a:latin typeface="Aptos"/>
              </a:rPr>
              <a:t>PE = 3 × 9.8 × 5 = 147 J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1188720" cy="1005840"/>
          </a:xfrm>
          <a:prstGeom prst="roundRect">
            <a:avLst/>
          </a:prstGeom>
          <a:solidFill>
            <a:srgbClr val="49D3E0"/>
          </a:solidFill>
          <a:ln>
            <a:solidFill>
              <a:srgbClr val="4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692640" y="2011680"/>
            <a:ext cx="0" cy="2377440"/>
          </a:xfrm>
          <a:prstGeom prst="line">
            <a:avLst/>
          </a:prstGeom>
          <a:ln w="38100">
            <a:solidFill>
              <a:srgbClr val="51C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766560" y="4754880"/>
            <a:ext cx="429768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F8FAFF"/>
                </a:solidFill>
                <a:latin typeface="Aptos"/>
              </a:rPr>
              <a:t>Higher position → more gravitational PE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3000" b="1">
                <a:solidFill>
                  <a:srgbClr val="F8FAFF"/>
                </a:solidFill>
                <a:latin typeface="Aptos"/>
              </a:rPr>
              <a:t>7 • Work against gravity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78992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49D3E0"/>
                </a:solidFill>
                <a:latin typeface="Aptos"/>
              </a:rPr>
              <a:t>For steady vertical lifting near Earth's surface, work against gravity = mgh.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188720" cy="45720"/>
          </a:xfrm>
          <a:prstGeom prst="rect">
            <a:avLst/>
          </a:prstGeom>
          <a:solidFill>
            <a:srgbClr val="FFBE41"/>
          </a:solidFill>
          <a:ln>
            <a:solidFill>
              <a:srgbClr val="FF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82512"/>
            <a:ext cx="502920" cy="2286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AEBED7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411480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3400" b="1">
                <a:solidFill>
                  <a:srgbClr val="FFBE41"/>
                </a:solidFill>
                <a:latin typeface="Aptos"/>
              </a:rPr>
              <a:t>W = mgh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59436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800" b="0">
                <a:solidFill>
                  <a:srgbClr val="F8FAFF"/>
                </a:solidFill>
                <a:latin typeface="Aptos"/>
              </a:rPr>
              <a:t>Example: lift a 5 kg bag by 3 m; use g = 10 m/s².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54864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49D3E0"/>
                </a:solidFill>
                <a:latin typeface="Aptos"/>
              </a:rPr>
              <a:t>W = 5 × 10 × 3 = 150 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5669280" cy="8229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800" b="0">
                <a:solidFill>
                  <a:srgbClr val="F8FAFF"/>
                </a:solidFill>
                <a:latin typeface="Aptos"/>
              </a:rPr>
              <a:t>The bag gains 150 J of gravitational potential energy under ideal assumptions.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474720"/>
            <a:ext cx="1188720" cy="914400"/>
          </a:xfrm>
          <a:prstGeom prst="roundRect">
            <a:avLst/>
          </a:prstGeom>
          <a:solidFill>
            <a:srgbClr val="FFBE41"/>
          </a:solidFill>
          <a:ln>
            <a:solidFill>
              <a:srgbClr val="FF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8823960" y="2057400"/>
            <a:ext cx="0" cy="1188720"/>
          </a:xfrm>
          <a:prstGeom prst="line">
            <a:avLst/>
          </a:prstGeom>
          <a:ln w="50800">
            <a:solidFill>
              <a:srgbClr val="51C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3000" b="1">
                <a:solidFill>
                  <a:srgbClr val="F8FAFF"/>
                </a:solidFill>
                <a:latin typeface="Aptos"/>
              </a:rPr>
              <a:t>Energy transformation • A falling object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78992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49D3E0"/>
                </a:solidFill>
                <a:latin typeface="Aptos"/>
              </a:rPr>
              <a:t>Ignoring air resistance, gravitational potential energy is converted into kinetic energy.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188720" cy="45720"/>
          </a:xfrm>
          <a:prstGeom prst="rect">
            <a:avLst/>
          </a:prstGeom>
          <a:solidFill>
            <a:srgbClr val="FFBE41"/>
          </a:solidFill>
          <a:ln>
            <a:solidFill>
              <a:srgbClr val="FF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82512"/>
            <a:ext cx="502920" cy="2286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AEBED7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3337560" cy="3108960"/>
          </a:xfrm>
          <a:prstGeom prst="roundRect">
            <a:avLst/>
          </a:prstGeom>
          <a:solidFill>
            <a:srgbClr val="182741"/>
          </a:solidFill>
          <a:ln>
            <a:solidFill>
              <a:srgbClr val="FF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84248"/>
            <a:ext cx="29718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900" b="1">
                <a:solidFill>
                  <a:srgbClr val="FFBE41"/>
                </a:solidFill>
                <a:latin typeface="Aptos"/>
              </a:rPr>
              <a:t>AT THE 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41448"/>
            <a:ext cx="2971800" cy="24231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600" b="0">
                <a:solidFill>
                  <a:srgbClr val="F8FAFF"/>
                </a:solidFill>
                <a:latin typeface="Aptos"/>
              </a:rPr>
              <a:t>Height is large. Gravitational potential energy is high.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874519"/>
            <a:ext cx="3337560" cy="3108960"/>
          </a:xfrm>
          <a:prstGeom prst="roundRect">
            <a:avLst/>
          </a:prstGeom>
          <a:solidFill>
            <a:srgbClr val="182741"/>
          </a:solidFill>
          <a:ln>
            <a:solidFill>
              <a:srgbClr val="4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84248"/>
            <a:ext cx="29718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900" b="1">
                <a:solidFill>
                  <a:srgbClr val="49D3E0"/>
                </a:solidFill>
                <a:latin typeface="Aptos"/>
              </a:rPr>
              <a:t>WHILE FALLING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41448"/>
            <a:ext cx="2971800" cy="24231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600" b="0">
                <a:solidFill>
                  <a:srgbClr val="F8FAFF"/>
                </a:solidFill>
                <a:latin typeface="Aptos"/>
              </a:rPr>
              <a:t>Height decreases; speed increases. Energy changes form.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874519"/>
            <a:ext cx="3337560" cy="3108960"/>
          </a:xfrm>
          <a:prstGeom prst="roundRect">
            <a:avLst/>
          </a:prstGeom>
          <a:solidFill>
            <a:srgbClr val="182741"/>
          </a:solidFill>
          <a:ln>
            <a:solidFill>
              <a:srgbClr val="51C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984248"/>
            <a:ext cx="29718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900" b="1">
                <a:solidFill>
                  <a:srgbClr val="51CD92"/>
                </a:solidFill>
                <a:latin typeface="Aptos"/>
              </a:rPr>
              <a:t>NEAR THE BOTTOM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441448"/>
            <a:ext cx="2971800" cy="24231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600" b="0">
                <a:solidFill>
                  <a:srgbClr val="F8FAFF"/>
                </a:solidFill>
                <a:latin typeface="Aptos"/>
              </a:rPr>
              <a:t>Kinetic energy is larger. Real objects also transfer energy to surroundings.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3000" b="1">
                <a:solidFill>
                  <a:srgbClr val="F8FAFF"/>
                </a:solidFill>
                <a:latin typeface="Aptos"/>
              </a:rPr>
              <a:t>8 • Power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78992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49D3E0"/>
                </a:solidFill>
                <a:latin typeface="Aptos"/>
              </a:rPr>
              <a:t>Power measures how quickly work is done or energy is transferred.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188720" cy="45720"/>
          </a:xfrm>
          <a:prstGeom prst="rect">
            <a:avLst/>
          </a:prstGeom>
          <a:solidFill>
            <a:srgbClr val="FFBE41"/>
          </a:solidFill>
          <a:ln>
            <a:solidFill>
              <a:srgbClr val="FF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82512"/>
            <a:ext cx="502920" cy="2286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AEBED7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411480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3400" b="1">
                <a:solidFill>
                  <a:srgbClr val="FFBE41"/>
                </a:solidFill>
                <a:latin typeface="Aptos"/>
              </a:rPr>
              <a:t>P = W ÷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59436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800" b="1">
                <a:solidFill>
                  <a:srgbClr val="49D3E0"/>
                </a:solidFill>
                <a:latin typeface="Aptos"/>
              </a:rPr>
              <a:t>Unit: watt (W) = joule per second (J/s)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5029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800" b="0">
                <a:solidFill>
                  <a:srgbClr val="F8FAFF"/>
                </a:solidFill>
                <a:latin typeface="Aptos"/>
              </a:rPr>
              <a:t>Example: 300 J of work in 5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50292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300" b="1">
                <a:solidFill>
                  <a:srgbClr val="FFBE41"/>
                </a:solidFill>
                <a:latin typeface="Aptos"/>
              </a:rPr>
              <a:t>P = 300 ÷ 5 = 60 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2057400"/>
            <a:ext cx="4297680" cy="2560320"/>
          </a:xfrm>
          <a:prstGeom prst="roundRect">
            <a:avLst/>
          </a:prstGeom>
          <a:solidFill>
            <a:srgbClr val="182741"/>
          </a:solidFill>
          <a:ln>
            <a:solidFill>
              <a:srgbClr val="51C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2167128"/>
            <a:ext cx="39319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900" b="1">
                <a:solidFill>
                  <a:srgbClr val="51CD92"/>
                </a:solidFill>
                <a:latin typeface="Aptos"/>
              </a:rPr>
              <a:t>STAIRS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624328"/>
            <a:ext cx="3931920" cy="187451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600" b="0">
                <a:solidFill>
                  <a:srgbClr val="F8FAFF"/>
                </a:solidFill>
                <a:latin typeface="Aptos"/>
              </a:rPr>
              <a:t>Same work in less time means greater average power.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3000" b="1">
                <a:solidFill>
                  <a:srgbClr val="F8FAFF"/>
                </a:solidFill>
                <a:latin typeface="Aptos"/>
              </a:rPr>
              <a:t>Work vs energy vs power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78992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49D3E0"/>
                </a:solidFill>
                <a:latin typeface="Aptos"/>
              </a:rPr>
              <a:t>Keep the meanings separate.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188720" cy="45720"/>
          </a:xfrm>
          <a:prstGeom prst="rect">
            <a:avLst/>
          </a:prstGeom>
          <a:solidFill>
            <a:srgbClr val="FFBE41"/>
          </a:solidFill>
          <a:ln>
            <a:solidFill>
              <a:srgbClr val="FF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82512"/>
            <a:ext cx="502920" cy="2286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AEBED7"/>
                </a:solidFill>
                <a:latin typeface="Apto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3337560" cy="3108960"/>
          </a:xfrm>
          <a:prstGeom prst="roundRect">
            <a:avLst/>
          </a:prstGeom>
          <a:solidFill>
            <a:srgbClr val="182741"/>
          </a:solidFill>
          <a:ln>
            <a:solidFill>
              <a:srgbClr val="4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84248"/>
            <a:ext cx="29718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900" b="1">
                <a:solidFill>
                  <a:srgbClr val="49D3E0"/>
                </a:solidFill>
                <a:latin typeface="Aptos"/>
              </a:rPr>
              <a:t>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41448"/>
            <a:ext cx="2971800" cy="24231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600" b="0">
                <a:solidFill>
                  <a:srgbClr val="F8FAFF"/>
                </a:solidFill>
                <a:latin typeface="Aptos"/>
              </a:rPr>
              <a:t>Energy transferred by a force through displacement. Unit: joule.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874519"/>
            <a:ext cx="3337560" cy="3108960"/>
          </a:xfrm>
          <a:prstGeom prst="roundRect">
            <a:avLst/>
          </a:prstGeom>
          <a:solidFill>
            <a:srgbClr val="182741"/>
          </a:solidFill>
          <a:ln>
            <a:solidFill>
              <a:srgbClr val="FF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84248"/>
            <a:ext cx="29718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900" b="1">
                <a:solidFill>
                  <a:srgbClr val="FFBE41"/>
                </a:solidFill>
                <a:latin typeface="Aptos"/>
              </a:rPr>
              <a:t>ENERGY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41448"/>
            <a:ext cx="2971800" cy="24231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600" b="0">
                <a:solidFill>
                  <a:srgbClr val="F8FAFF"/>
                </a:solidFill>
                <a:latin typeface="Aptos"/>
              </a:rPr>
              <a:t>Associated with motion, position and other systems. Unit: joule.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874519"/>
            <a:ext cx="3337560" cy="3108960"/>
          </a:xfrm>
          <a:prstGeom prst="roundRect">
            <a:avLst/>
          </a:prstGeom>
          <a:solidFill>
            <a:srgbClr val="182741"/>
          </a:solidFill>
          <a:ln>
            <a:solidFill>
              <a:srgbClr val="51C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984248"/>
            <a:ext cx="29718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900" b="1">
                <a:solidFill>
                  <a:srgbClr val="51CD92"/>
                </a:solidFill>
                <a:latin typeface="Aptos"/>
              </a:rPr>
              <a:t>POWER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441448"/>
            <a:ext cx="2971800" cy="24231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600" b="0">
                <a:solidFill>
                  <a:srgbClr val="F8FAFF"/>
                </a:solidFill>
                <a:latin typeface="Aptos"/>
              </a:rPr>
              <a:t>Rate of work or energy transfer. Unit: watt.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3000" b="1">
                <a:solidFill>
                  <a:srgbClr val="F8FAFF"/>
                </a:solidFill>
                <a:latin typeface="Aptos"/>
              </a:rPr>
              <a:t>Challenge round • Calculate and explain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78992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49D3E0"/>
                </a:solidFill>
                <a:latin typeface="Aptos"/>
              </a:rPr>
              <a:t>Show the steps and include units.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188720" cy="45720"/>
          </a:xfrm>
          <a:prstGeom prst="rect">
            <a:avLst/>
          </a:prstGeom>
          <a:solidFill>
            <a:srgbClr val="FFBE41"/>
          </a:solidFill>
          <a:ln>
            <a:solidFill>
              <a:srgbClr val="FF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82512"/>
            <a:ext cx="502920" cy="2286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AEBED7"/>
                </a:solidFill>
                <a:latin typeface="Aptos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515600" cy="777240"/>
          </a:xfrm>
          <a:prstGeom prst="roundRect">
            <a:avLst/>
          </a:prstGeom>
          <a:solidFill>
            <a:srgbClr val="182741"/>
          </a:solidFill>
          <a:ln>
            <a:solidFill>
              <a:srgbClr val="2E7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FFBE41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719072"/>
            <a:ext cx="804672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F8FAFF"/>
                </a:solidFill>
                <a:latin typeface="Aptos"/>
              </a:rPr>
              <a:t>A 20 N force moves a box 3 m. Work done?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1737360"/>
            <a:ext cx="18288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300" b="1">
                <a:solidFill>
                  <a:srgbClr val="49D3E0"/>
                </a:solidFill>
                <a:latin typeface="Aptos"/>
              </a:rPr>
              <a:t>Answer: 60 J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33472"/>
            <a:ext cx="10515600" cy="777240"/>
          </a:xfrm>
          <a:prstGeom prst="roundRect">
            <a:avLst/>
          </a:prstGeom>
          <a:solidFill>
            <a:srgbClr val="182741"/>
          </a:solidFill>
          <a:ln>
            <a:solidFill>
              <a:srgbClr val="2E7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24912"/>
            <a:ext cx="4572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FFBE41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706624"/>
            <a:ext cx="804672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F8FAFF"/>
                </a:solidFill>
                <a:latin typeface="Aptos"/>
              </a:rPr>
              <a:t>A 2 kg object moves at 5 m/s. Find kinetic energy.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2724912"/>
            <a:ext cx="18288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300" b="1">
                <a:solidFill>
                  <a:srgbClr val="49D3E0"/>
                </a:solidFill>
                <a:latin typeface="Aptos"/>
              </a:rPr>
              <a:t>Answer: 25 J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21024"/>
            <a:ext cx="10515600" cy="777240"/>
          </a:xfrm>
          <a:prstGeom prst="roundRect">
            <a:avLst/>
          </a:prstGeom>
          <a:solidFill>
            <a:srgbClr val="182741"/>
          </a:solidFill>
          <a:ln>
            <a:solidFill>
              <a:srgbClr val="2E7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712463"/>
            <a:ext cx="4572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FFBE41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694176"/>
            <a:ext cx="804672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F8FAFF"/>
                </a:solidFill>
                <a:latin typeface="Aptos"/>
              </a:rPr>
              <a:t>A 4 kg load is lifted 2 m. Use g = 10 m/s². Work against gravity?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3712463"/>
            <a:ext cx="18288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300" b="1">
                <a:solidFill>
                  <a:srgbClr val="49D3E0"/>
                </a:solidFill>
                <a:latin typeface="Aptos"/>
              </a:rPr>
              <a:t>Answer: 80 J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608576"/>
            <a:ext cx="10515600" cy="777240"/>
          </a:xfrm>
          <a:prstGeom prst="roundRect">
            <a:avLst/>
          </a:prstGeom>
          <a:solidFill>
            <a:srgbClr val="182741"/>
          </a:solidFill>
          <a:ln>
            <a:solidFill>
              <a:srgbClr val="2E7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700016"/>
            <a:ext cx="4572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FFBE41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681728"/>
            <a:ext cx="804672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F8FAFF"/>
                </a:solidFill>
                <a:latin typeface="Aptos"/>
              </a:rPr>
              <a:t>A machine transfers 200 J in 4 s. Find power.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4700016"/>
            <a:ext cx="18288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300" b="1">
                <a:solidFill>
                  <a:srgbClr val="49D3E0"/>
                </a:solidFill>
                <a:latin typeface="Aptos"/>
              </a:rPr>
              <a:t>Answer: 50 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3000" b="1">
                <a:solidFill>
                  <a:srgbClr val="F8FAFF"/>
                </a:solidFill>
                <a:latin typeface="Aptos"/>
              </a:rPr>
              <a:t>Exit ticket • Explain in your own words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78992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49D3E0"/>
                </a:solidFill>
                <a:latin typeface="Aptos"/>
              </a:rPr>
              <a:t>Collect answers to find what needs reteaching.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188720" cy="45720"/>
          </a:xfrm>
          <a:prstGeom prst="rect">
            <a:avLst/>
          </a:prstGeom>
          <a:solidFill>
            <a:srgbClr val="FFBE41"/>
          </a:solidFill>
          <a:ln>
            <a:solidFill>
              <a:srgbClr val="FF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82512"/>
            <a:ext cx="502920" cy="2286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AEBED7"/>
                </a:solidFill>
                <a:latin typeface="Aptos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3337560" cy="3108960"/>
          </a:xfrm>
          <a:prstGeom prst="roundRect">
            <a:avLst/>
          </a:prstGeom>
          <a:solidFill>
            <a:srgbClr val="182741"/>
          </a:solidFill>
          <a:ln>
            <a:solidFill>
              <a:srgbClr val="4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84248"/>
            <a:ext cx="29718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900" b="1">
                <a:solidFill>
                  <a:srgbClr val="49D3E0"/>
                </a:solidFill>
                <a:latin typeface="Aptos"/>
              </a:rPr>
              <a:t>A •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41448"/>
            <a:ext cx="2971800" cy="24231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600" b="0">
                <a:solidFill>
                  <a:srgbClr val="F8FAFF"/>
                </a:solidFill>
                <a:latin typeface="Aptos"/>
              </a:rPr>
              <a:t>Why is mechanical work on a wall zero if it does not move?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874519"/>
            <a:ext cx="3337560" cy="3108960"/>
          </a:xfrm>
          <a:prstGeom prst="roundRect">
            <a:avLst/>
          </a:prstGeom>
          <a:solidFill>
            <a:srgbClr val="182741"/>
          </a:solidFill>
          <a:ln>
            <a:solidFill>
              <a:srgbClr val="FF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84248"/>
            <a:ext cx="29718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900" b="1">
                <a:solidFill>
                  <a:srgbClr val="FFBE41"/>
                </a:solidFill>
                <a:latin typeface="Aptos"/>
              </a:rPr>
              <a:t>B • ENERGY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41448"/>
            <a:ext cx="2971800" cy="24231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600" b="0">
                <a:solidFill>
                  <a:srgbClr val="F8FAFF"/>
                </a:solidFill>
                <a:latin typeface="Aptos"/>
              </a:rPr>
              <a:t>What happens to a falling object's gravitational potential and kinetic energy?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874519"/>
            <a:ext cx="3337560" cy="3108960"/>
          </a:xfrm>
          <a:prstGeom prst="roundRect">
            <a:avLst/>
          </a:prstGeom>
          <a:solidFill>
            <a:srgbClr val="182741"/>
          </a:solidFill>
          <a:ln>
            <a:solidFill>
              <a:srgbClr val="51C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984248"/>
            <a:ext cx="29718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900" b="1">
                <a:solidFill>
                  <a:srgbClr val="51CD92"/>
                </a:solidFill>
                <a:latin typeface="Aptos"/>
              </a:rPr>
              <a:t>C • POWER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441448"/>
            <a:ext cx="2971800" cy="24231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600" b="0">
                <a:solidFill>
                  <a:srgbClr val="F8FAFF"/>
                </a:solidFill>
                <a:latin typeface="Aptos"/>
              </a:rPr>
              <a:t>Two people do equal work. Why might one have greater power?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