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48640"/>
            <a:ext cx="1097280" cy="1097280"/>
          </a:xfrm>
          <a:prstGeom prst="ellipse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417320"/>
            <a:ext cx="548640" cy="548640"/>
          </a:xfrm>
          <a:prstGeom prst="ellipse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1828800"/>
            <a:ext cx="411480" cy="411480"/>
          </a:xfrm>
          <a:prstGeom prst="ellipse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86868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SIMPLE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7724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2B539"/>
                </a:solidFill>
                <a:latin typeface="Aptos"/>
              </a:defRPr>
            </a:pPr>
            <a:r>
              <a:t>Class 6 Science • Nepal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804672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FFFFFF"/>
                </a:solidFill>
                <a:latin typeface="Aptos"/>
              </a:defRPr>
            </a:pPr>
            <a:r>
              <a:t>Discover how simple tools make work easier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73152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EDCE1"/>
                </a:solidFill>
                <a:latin typeface="Aptos"/>
              </a:defRPr>
            </a:pPr>
            <a:r>
              <a:t>Explore • Predict • Test • 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9144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ECDDC"/>
                </a:solidFill>
                <a:latin typeface="Aptos"/>
              </a:defRPr>
            </a:pPr>
            <a:r>
              <a:t>TEACHER PRESENTATION + INTERACTIVE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By the end of the lesson, students should be able to…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82296" cy="150876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1089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3090672" cy="7772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Name the six types of simple machines.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82296" cy="150876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31089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41448"/>
            <a:ext cx="3090672" cy="7772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Describe how a machine can change the size or direction of a force.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82296" cy="150876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75104"/>
            <a:ext cx="30175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41448"/>
            <a:ext cx="2999232" cy="7772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Recognise simple machines in everyday tools.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10058400" cy="182880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Make a prediction before changing a simulation.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Record what changes and what stays the same.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Explain an observation using science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What is a simple machine?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A tool that makes a task easier by changing how a force is applied.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82296" cy="201168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47548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2D52"/>
                </a:solidFill>
                <a:latin typeface="Aptos"/>
              </a:defRPr>
            </a:pPr>
            <a:r>
              <a:t>A machine can…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41448"/>
            <a:ext cx="4736592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• Change the direction of a force</a:t>
            </a: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• Reduce the effort force needed in some situations</a:t>
            </a: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• Help us move, lift, split or turn 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82296" cy="201168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7510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2D52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441448"/>
            <a:ext cx="4690872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A machine does not create energy. A smaller effort force may mean moving the effort through a greater distance.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192D52"/>
                </a:solidFill>
                <a:latin typeface="Aptos"/>
              </a:defRPr>
            </a:pPr>
            <a:r>
              <a:t>Examples: bottle opener • ramp • pulley • screwdriver • wheelbarrow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The six simple machines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Look for these shapes and actions in familiar objects.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82296" cy="141732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Lever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2953512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A rigid bar turns around a fulcrum.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82296" cy="141732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8366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Pulley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50008"/>
            <a:ext cx="2953512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A grooved wheel guides a rope.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737360"/>
            <a:ext cx="82296" cy="141732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88366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Wheel and axle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350008"/>
            <a:ext cx="2953512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A large wheel turns with a smaller axle.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82296" cy="1417320"/>
          </a:xfrm>
          <a:prstGeom prst="rect">
            <a:avLst/>
          </a:prstGeom>
          <a:solidFill>
            <a:srgbClr val="37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4962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Inclined 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15968"/>
            <a:ext cx="2953512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A sloping surface helps move a load.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703320"/>
            <a:ext cx="82296" cy="1417320"/>
          </a:xfrm>
          <a:prstGeom prst="rect">
            <a:avLst/>
          </a:prstGeom>
          <a:solidFill>
            <a:srgbClr val="CD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84962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Wedge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315968"/>
            <a:ext cx="2953512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A moving or pushed wedge splits or cuts.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703320"/>
            <a:ext cx="82296" cy="1417320"/>
          </a:xfrm>
          <a:prstGeom prst="rect">
            <a:avLst/>
          </a:prstGeom>
          <a:solidFill>
            <a:srgbClr val="1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384962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Screw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315968"/>
            <a:ext cx="2953512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An inclined plane wrapped around a cylinder.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1. Lever: a bar that 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Key parts: effort, load and fulcrum.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496665"/>
            <a:ext cx="4937760" cy="146304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3064154" y="3705148"/>
            <a:ext cx="833932" cy="972921"/>
          </a:xfrm>
          <a:prstGeom prst="triangle">
            <a:avLst/>
          </a:prstGeom>
          <a:solidFill>
            <a:srgbClr val="F2B539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47188" y="4712817"/>
            <a:ext cx="1563624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FULCRUM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93238"/>
            <a:ext cx="1563624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CD4D43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053" y="2593238"/>
            <a:ext cx="1563624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37875C"/>
                </a:solidFill>
                <a:latin typeface="Aptos"/>
              </a:defRPr>
            </a:pPr>
            <a:r>
              <a:t>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71215"/>
            <a:ext cx="13030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CD4D43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7174" y="2871215"/>
            <a:ext cx="13030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37875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82296" cy="100584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7510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441448"/>
            <a:ext cx="469087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The force applied by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4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82296" cy="1005840"/>
          </a:xfrm>
          <a:prstGeom prst="rect">
            <a:avLst/>
          </a:prstGeom>
          <a:solidFill>
            <a:srgbClr val="CD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20954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75888"/>
            <a:ext cx="469087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The object or resistance being moved.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297680"/>
            <a:ext cx="82296" cy="100584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4398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Fulcrum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10328"/>
            <a:ext cx="469087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The fixed point about which the lever turns.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Examples: seesaw • crowbar • bottle opener • tweezers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The three classes of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Class depends on which part is in the middle.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82296" cy="292608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FIRST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3136392" cy="2194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Fulcrum is in the middle.</a:t>
            </a: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Load — Fulcrum — Effort</a:t>
            </a: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Example: seesaw, scissors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82296" cy="292608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7510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SECOND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41448"/>
            <a:ext cx="3136392" cy="2194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Load is in the middle.</a:t>
            </a: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Fulcrum — Load — Effort</a:t>
            </a: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Example: wheelbarrow, nutcracker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520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82296" cy="292608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975104"/>
            <a:ext cx="31546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THIRD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41448"/>
            <a:ext cx="3136392" cy="2194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Effort is in the middle.</a:t>
            </a: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Fulcrum — Effort — Load</a:t>
            </a: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Example: tweezers, human forearm (simplified model)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192D52"/>
                </a:solidFill>
                <a:latin typeface="Aptos"/>
              </a:defRPr>
            </a:pPr>
            <a:r>
              <a:t>Memory tip: identify the middle part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Lever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Use the interactive lab after making a prediction.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6583680" cy="384048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Choose first-class, second-class or third-class lever.</a:t>
            </a:r>
          </a:p>
          <a:p>
            <a:pPr>
              <a:spcAft>
                <a:spcPts val="15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Point out the fulcrum, load and effort.</a:t>
            </a:r>
          </a:p>
          <a:p>
            <a:pPr>
              <a:spcAft>
                <a:spcPts val="15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Change the load or the distances from the fulcrum.</a:t>
            </a:r>
          </a:p>
          <a:p>
            <a:pPr>
              <a:spcAft>
                <a:spcPts val="15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Observe how the ideal effort changes.</a:t>
            </a:r>
          </a:p>
          <a:p>
            <a:pPr>
              <a:spcAft>
                <a:spcPts val="15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Explain why the position of the effort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96596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965960"/>
            <a:ext cx="82296" cy="228600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211226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Think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578608"/>
            <a:ext cx="2953512" cy="1554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If the effort is applied farther from the fulcrum, what do you predict will happen to the effort needed?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424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97480"/>
                </a:solidFill>
                <a:latin typeface="Aptos"/>
              </a:defRPr>
            </a:pPr>
            <a:r>
              <a:t>Teacher note: ideal lever calculations assume a rigid lever and ignore friction.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2. Pulley: a wheel and rope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A pulley can change the direction of a pull; movable systems can reduce ideal effort.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1587398" y="1874519"/>
            <a:ext cx="3043123" cy="128016"/>
          </a:xfrm>
          <a:prstGeom prst="rect">
            <a:avLst/>
          </a:prstGeom>
          <a:solidFill>
            <a:srgbClr val="1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28569" y="2084832"/>
            <a:ext cx="760780" cy="760780"/>
          </a:xfrm>
          <a:prstGeom prst="ellipse">
            <a:avLst/>
          </a:prstGeom>
          <a:solidFill>
            <a:srgbClr val="F2B539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18764" y="2231136"/>
            <a:ext cx="45720" cy="1250899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9155" y="2231136"/>
            <a:ext cx="45720" cy="1250899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6118" y="4539081"/>
            <a:ext cx="665683" cy="555955"/>
          </a:xfrm>
          <a:prstGeom prst="rect">
            <a:avLst/>
          </a:prstGeom>
          <a:solidFill>
            <a:srgbClr val="CD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9545" y="3566160"/>
            <a:ext cx="1426464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37875C"/>
                </a:solidFill>
                <a:latin typeface="Aptos"/>
              </a:defRPr>
            </a:pPr>
            <a:r>
              <a:t>Pull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8288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828800"/>
            <a:ext cx="82296" cy="11430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1975104"/>
            <a:ext cx="49377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Fixed pulley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441448"/>
            <a:ext cx="4919472" cy="41147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Usually changes the direction of effort; ideal mechanical advantage =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324612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3246120"/>
            <a:ext cx="82296" cy="114300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3392424"/>
            <a:ext cx="49377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Movable pulley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3858768"/>
            <a:ext cx="4919472" cy="41147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The load is supported by more rope sections, so ideal effort can be smaller.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466344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4663440"/>
            <a:ext cx="82296" cy="91440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4809744"/>
            <a:ext cx="49377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5276088"/>
            <a:ext cx="4919472" cy="18287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Switch pulley type and compare effort.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3. Inclined plane: a 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A longer, gentler ramp can reduce the ideal pushing force.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678070"/>
            <a:ext cx="3803904" cy="109728"/>
          </a:xfrm>
          <a:prstGeom prst="rect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587398" y="3044952"/>
            <a:ext cx="3233318" cy="1737360"/>
          </a:xfrm>
          <a:prstGeom prst="parallelogram">
            <a:avLst/>
          </a:prstGeom>
          <a:solidFill>
            <a:srgbClr val="269691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95728" y="2766974"/>
            <a:ext cx="760780" cy="555955"/>
          </a:xfrm>
          <a:prstGeom prst="rect">
            <a:avLst/>
          </a:prstGeom>
          <a:solidFill>
            <a:srgbClr val="F2B539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6704" y="3809390"/>
            <a:ext cx="133136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8288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828800"/>
            <a:ext cx="82296" cy="11430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1975104"/>
            <a:ext cx="49377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2441448"/>
            <a:ext cx="4919472" cy="41147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Compare a short steep ramp with a longer gentle ramp.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24612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3246120"/>
            <a:ext cx="82296" cy="114300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3392424"/>
            <a:ext cx="49377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858768"/>
            <a:ext cx="4919472" cy="41147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Less force usually means applying that force over a longer distance.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66344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4663440"/>
            <a:ext cx="82296" cy="91440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4809744"/>
            <a:ext cx="49377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Everyday 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5276088"/>
            <a:ext cx="4919472" cy="18287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Loading ramp • sloping road • wheelchair ramp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4. Wheel and axle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A wheel and a smaller axle rotate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1825142" y="2419502"/>
            <a:ext cx="2282342" cy="2154326"/>
          </a:xfrm>
          <a:prstGeom prst="ellipse">
            <a:avLst/>
          </a:prstGeom>
          <a:solidFill>
            <a:srgbClr val="3269AA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38374" y="3079699"/>
            <a:ext cx="855878" cy="833932"/>
          </a:xfrm>
          <a:prstGeom prst="ellipse">
            <a:avLst/>
          </a:prstGeom>
          <a:solidFill>
            <a:srgbClr val="F2B539"/>
          </a:solidFill>
          <a:ln>
            <a:solidFill>
              <a:srgbClr val="1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643323"/>
            <a:ext cx="1806854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92D52"/>
                </a:solidFill>
                <a:latin typeface="Aptos"/>
              </a:defRPr>
            </a:pPr>
            <a:r>
              <a:t>Wheel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6704" y="4643323"/>
            <a:ext cx="1521561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92D52"/>
                </a:solidFill>
                <a:latin typeface="Aptos"/>
              </a:defRPr>
            </a:pPr>
            <a:r>
              <a:t>Axle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8288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828800"/>
            <a:ext cx="82296" cy="11430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1975104"/>
            <a:ext cx="49377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How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2441448"/>
            <a:ext cx="4919472" cy="41147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Applying effort at the larger wheel can turn the smaller axle with greater turning effect.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24612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3246120"/>
            <a:ext cx="82296" cy="114300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3392424"/>
            <a:ext cx="49377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D52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858768"/>
            <a:ext cx="4919472" cy="41147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Door knob • steering wheel • screwdriver handle • hand winch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66344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4663440"/>
            <a:ext cx="82296" cy="91440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4809744"/>
            <a:ext cx="49377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5276088"/>
            <a:ext cx="4919472" cy="18287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Change wheel radius and axle radius in the lab.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5. Wedge and 6. Screw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Both are related to the inclined plane.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82296" cy="2926080"/>
          </a:xfrm>
          <a:prstGeom prst="rect">
            <a:avLst/>
          </a:prstGeom>
          <a:solidFill>
            <a:srgbClr val="CD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7510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2D52"/>
                </a:solidFill>
                <a:latin typeface="Aptos"/>
              </a:defRPr>
            </a:pPr>
            <a:r>
              <a:t>WEDGE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41448"/>
            <a:ext cx="4690872" cy="2194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A wedge is like two inclined planes joined together.</a:t>
            </a: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Used to split, cut or hold objects.</a:t>
            </a: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Examples: knife • axe • chisel • doorstop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82296" cy="292608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7510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2D52"/>
                </a:solidFill>
                <a:latin typeface="Aptos"/>
              </a:defRPr>
            </a:pPr>
            <a:r>
              <a:t>SCREW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441448"/>
            <a:ext cx="4690872" cy="2194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A screw is an inclined plane wrapped around a cylinder.</a:t>
            </a: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Turning it can produce forward motion or strong clamping force.</a:t>
            </a: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Examples: bolt • jar lid • screw jack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0584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CD4D43"/>
                </a:solidFill>
                <a:latin typeface="Aptos"/>
              </a:defRPr>
            </a:pPr>
            <a:r>
              <a:t>Safety: never test a sharp wedge on your hand or body.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A first look at mechanical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Optional extension: introduce the idea only if appropriate for your class.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82296" cy="18288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7510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Mechanical advantage (MA)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41448"/>
            <a:ext cx="4690872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MA compares the load force with the effort force.</a:t>
            </a: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Ideal MA = Load ÷ Effort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82296" cy="182880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75104"/>
            <a:ext cx="470915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What it tells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441448"/>
            <a:ext cx="4690872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8303A"/>
                </a:solidFill>
                <a:latin typeface="Aptos"/>
              </a:defRPr>
            </a:pPr>
            <a:r>
              <a:t>A larger ideal MA means less effort force is needed for the same load, under ideal conditions.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1014984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Real machines have friction, so actual effort is usually greater than the ideal estimate.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Check the exact textbook edition before treating formulas as required Grade 6 content.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How to learn with a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Use the same scientific method in each machine experiment.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82296" cy="214884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386584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1. 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852928"/>
            <a:ext cx="2176272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8303A"/>
                </a:solidFill>
                <a:latin typeface="Aptos"/>
              </a:defRPr>
            </a:pPr>
            <a:r>
              <a:t>What do you think will happen?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24028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240280"/>
            <a:ext cx="82296" cy="214884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386584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2.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852928"/>
            <a:ext cx="2176272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8303A"/>
                </a:solidFill>
                <a:latin typeface="Aptos"/>
              </a:defRPr>
            </a:pPr>
            <a:r>
              <a:t>Move one slider or choose one 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24028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2240280"/>
            <a:ext cx="82296" cy="214884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2386584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3. 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852928"/>
            <a:ext cx="2176272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8303A"/>
                </a:solidFill>
                <a:latin typeface="Aptos"/>
              </a:defRPr>
            </a:pPr>
            <a:r>
              <a:t>Read the diagram and result.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24028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2240280"/>
            <a:ext cx="82296" cy="2148840"/>
          </a:xfrm>
          <a:prstGeom prst="rect">
            <a:avLst/>
          </a:prstGeom>
          <a:solidFill>
            <a:srgbClr val="37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2386584"/>
            <a:ext cx="21945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4. 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852928"/>
            <a:ext cx="2176272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8303A"/>
                </a:solidFill>
                <a:latin typeface="Aptos"/>
              </a:defRPr>
            </a:pPr>
            <a:r>
              <a:t>Use the machine’s parts and forces to explain why.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92D52"/>
                </a:solidFill>
                <a:latin typeface="Aptos"/>
              </a:defRPr>
            </a:pPr>
            <a:r>
              <a:t>Fair test: change one variable at a time and keep the other settings the same.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Quick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Ask students to answer before revealing or discussing the answers.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7772400" cy="420624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1. What is the fixed turning point of a lever called?</a:t>
            </a:r>
          </a:p>
          <a:p>
            <a:pPr>
              <a:spcAft>
                <a:spcPts val="17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2. In which class of lever is the load in the middle?</a:t>
            </a:r>
          </a:p>
          <a:p>
            <a:pPr>
              <a:spcAft>
                <a:spcPts val="17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3. What does a fixed pulley mainly change?</a:t>
            </a:r>
          </a:p>
          <a:p>
            <a:pPr>
              <a:spcAft>
                <a:spcPts val="17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4. Name one example of an inclined plane.</a:t>
            </a:r>
          </a:p>
          <a:p>
            <a:pPr>
              <a:spcAft>
                <a:spcPts val="17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5. Which simple machine is a knife most like?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011680"/>
            <a:ext cx="24688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0" y="2011680"/>
            <a:ext cx="82296" cy="283464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79408" y="2157984"/>
            <a:ext cx="21031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Answer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2624328"/>
            <a:ext cx="2084832" cy="2103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1. Fulcrum</a:t>
            </a:r>
          </a:p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2. Second class</a:t>
            </a:r>
          </a:p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3. Direction of effort</a:t>
            </a:r>
          </a:p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4. Ramp / sloping road</a:t>
            </a:r>
          </a:p>
          <a:p>
            <a:pPr>
              <a:spcAft>
                <a:spcPts val="8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5. Wedge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Everyday machine hunt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Pair task • 3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92D52"/>
                </a:solidFill>
                <a:latin typeface="Aptos"/>
              </a:defRPr>
            </a:pPr>
            <a:r>
              <a:t>Find or name one example of each machine around your home, classroom or school.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632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063240"/>
            <a:ext cx="82296" cy="82296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209544"/>
            <a:ext cx="29260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Lever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2907792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Write one example.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0632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3063240"/>
            <a:ext cx="82296" cy="82296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7" y="3209544"/>
            <a:ext cx="29260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Pulley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7" y="3675888"/>
            <a:ext cx="2907792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Write one example.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0632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3063240"/>
            <a:ext cx="82296" cy="82296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3209544"/>
            <a:ext cx="29260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Wheel and axle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3675888"/>
            <a:ext cx="2907792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Write one example.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062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206240"/>
            <a:ext cx="82296" cy="822960"/>
          </a:xfrm>
          <a:prstGeom prst="rect">
            <a:avLst/>
          </a:prstGeom>
          <a:solidFill>
            <a:srgbClr val="37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352544"/>
            <a:ext cx="29260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Inclined plane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818888"/>
            <a:ext cx="2907792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Write one example.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2062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4206240"/>
            <a:ext cx="82296" cy="822960"/>
          </a:xfrm>
          <a:prstGeom prst="rect">
            <a:avLst/>
          </a:prstGeom>
          <a:solidFill>
            <a:srgbClr val="CD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4352544"/>
            <a:ext cx="29260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Wedge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7" y="4818888"/>
            <a:ext cx="2907792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Write one example.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2062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4206240"/>
            <a:ext cx="82296" cy="822960"/>
          </a:xfrm>
          <a:prstGeom prst="rect">
            <a:avLst/>
          </a:prstGeom>
          <a:solidFill>
            <a:srgbClr val="1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13648" y="4352544"/>
            <a:ext cx="29260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Screw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4818888"/>
            <a:ext cx="2907792" cy="9143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Write one example.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697480"/>
                </a:solidFill>
                <a:latin typeface="Aptos"/>
              </a:defRPr>
            </a:pPr>
            <a:r>
              <a:t>Extension: explain which part makes the object a simple machine.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2D52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97480"/>
                </a:solidFill>
                <a:latin typeface="Aptos"/>
              </a:defRPr>
            </a:pPr>
            <a:r>
              <a:t>Before leaving, complete these three prompts.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51560" cy="64008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6974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82296" cy="22860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97510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2D52"/>
                </a:solidFill>
                <a:latin typeface="Aptos"/>
              </a:defRPr>
            </a:pPr>
            <a:r>
              <a:t>I learned…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41448"/>
            <a:ext cx="2953512" cy="1554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Name one new idea you understand.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82296" cy="2286000"/>
          </a:xfrm>
          <a:prstGeom prst="rect">
            <a:avLst/>
          </a:prstGeom>
          <a:solidFill>
            <a:srgbClr val="F2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97510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2D52"/>
                </a:solidFill>
                <a:latin typeface="Aptos"/>
              </a:defRPr>
            </a:pPr>
            <a:r>
              <a:t>I noticed…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41448"/>
            <a:ext cx="2953512" cy="1554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Describe one result from the simulation.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82296" cy="2286000"/>
          </a:xfrm>
          <a:prstGeom prst="rect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975104"/>
            <a:ext cx="2971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2D52"/>
                </a:solidFill>
                <a:latin typeface="Aptos"/>
              </a:defRPr>
            </a:pPr>
            <a:r>
              <a:t>I wonder…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41448"/>
            <a:ext cx="2953512" cy="1554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03A"/>
                </a:solidFill>
                <a:latin typeface="Aptos"/>
              </a:defRPr>
            </a:pPr>
            <a:r>
              <a:t>Ask one question you still have.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3327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92D52"/>
                </a:solidFill>
                <a:latin typeface="Aptos"/>
              </a:defRPr>
            </a:pPr>
            <a:r>
              <a:t>Teacher tip: invite students to justify their answer, not just name the machine.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