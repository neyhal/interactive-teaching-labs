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curiosity. Ask students to predict what the compass will do before explaining.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observe and propose explanations. Avoid giving away the answer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learning goals aloud and return to them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complete circuit and current flow. The diagram is schematic, not a wiring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Domain model is simplified. Domains contain many atomic magnetic moments, not individual molecules.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should learn the rule and connect it to observable motion. Real magnets have field patterns, not visible force arrows.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magnetic north vs geographic north in age-appropriate language; a compass aligns with the local magnetic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Historical story is based on the 1820 observation of compass deflection by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 trends are qualitative; exact field depends on core, geometry, current and other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diagram to identify the field, current and force. Keep motor operation as a simplified classroom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changing magnetic flux. A stationary magnet and coil do not produce a sustained induced voltage in this simplified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energy conversion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is a short selection of historical milestones, not a complete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time to justify answers; ask follow-up questions rather than accepting memorised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the exit ticket to identify what needs reteaching. Safety is non-negotiable.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1325880"/>
            <a:ext cx="2560320" cy="2560320"/>
          </a:xfrm>
          <a:prstGeom prst="ellipse">
            <a:avLst/>
          </a:prstGeom>
          <a:solidFill>
            <a:srgbClr val="14233F"/>
          </a:solidFill>
          <a:ln>
            <a:solidFill>
              <a:srgbClr val="142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1600199"/>
            <a:ext cx="2011680" cy="2011680"/>
          </a:xfrm>
          <a:prstGeom prst="ellipse">
            <a:avLst/>
          </a:prstGeom>
          <a:solidFill>
            <a:srgbClr val="2E79DB"/>
          </a:solidFill>
          <a:ln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874519"/>
            <a:ext cx="1463040" cy="1463040"/>
          </a:xfrm>
          <a:prstGeom prst="ellipse">
            <a:avLst/>
          </a:prstGeom>
          <a:solidFill>
            <a:srgbClr val="49D3E0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2148839"/>
            <a:ext cx="914400" cy="914400"/>
          </a:xfrm>
          <a:prstGeom prst="ellipse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6858000" cy="1828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800" b="1">
                <a:solidFill>
                  <a:srgbClr val="F8FAFF"/>
                </a:solidFill>
                <a:latin typeface="Aptos"/>
              </a:rPr>
              <a:t>ELECTRICITY
&amp; MAGNETISM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6400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0">
                <a:solidFill>
                  <a:srgbClr val="49D3E0"/>
                </a:solidFill>
                <a:latin typeface="Aptos"/>
              </a:rPr>
              <a:t>A journey from invisible fields to moving machines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977639"/>
            <a:ext cx="3886200" cy="347472"/>
          </a:xfrm>
          <a:prstGeom prst="roundRect">
            <a:avLst/>
          </a:prstGeom>
          <a:solidFill>
            <a:srgbClr val="A275FF"/>
          </a:solidFill>
          <a:ln w="17780">
            <a:solidFill>
              <a:srgbClr val="A2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986783"/>
            <a:ext cx="379476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8FAFF"/>
                </a:solidFill>
                <a:latin typeface="Aptos"/>
              </a:rPr>
              <a:t>CLASS 8 • DISCOVER • TEST • 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658368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900" b="0">
                <a:solidFill>
                  <a:srgbClr val="F8FAFF"/>
                </a:solidFill>
                <a:latin typeface="Aptos"/>
              </a:rPr>
              <a:t>Big question: How can an electric current make something magnetic—and make it move?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80760"/>
            <a:ext cx="777240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AEBED7"/>
                </a:solidFill>
                <a:latin typeface="Aptos"/>
              </a:rPr>
              <a:t>Teacher-led lesson • Interactive demonstrations • Quick challenges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Start with a mystery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Observe first. Explain after.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754880" cy="9144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1">
                <a:solidFill>
                  <a:srgbClr val="F8FAFF"/>
                </a:solidFill>
                <a:latin typeface="Aptos"/>
              </a:rPr>
              <a:t>A compass needle turns near a wire carrying current.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457200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0">
                <a:solidFill>
                  <a:srgbClr val="FFBE41"/>
                </a:solidFill>
                <a:latin typeface="Aptos"/>
              </a:rPr>
              <a:t>No magnet is touching the compass. So what is acting on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91640"/>
            <a:ext cx="5212080" cy="347472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629400" y="2286000"/>
            <a:ext cx="3886200" cy="0"/>
          </a:xfrm>
          <a:prstGeom prst="line">
            <a:avLst/>
          </a:prstGeom>
          <a:ln w="63500">
            <a:solidFill>
              <a:srgbClr val="E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29400" y="2286000"/>
            <a:ext cx="0" cy="1783080"/>
          </a:xfrm>
          <a:prstGeom prst="line">
            <a:avLst/>
          </a:prstGeom>
          <a:ln w="63500">
            <a:solidFill>
              <a:srgbClr val="E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29400" y="4069080"/>
            <a:ext cx="3886200" cy="0"/>
          </a:xfrm>
          <a:prstGeom prst="line">
            <a:avLst/>
          </a:prstGeom>
          <a:ln w="63500">
            <a:solidFill>
              <a:srgbClr val="E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515600" y="2286000"/>
            <a:ext cx="0" cy="1783080"/>
          </a:xfrm>
          <a:prstGeom prst="line">
            <a:avLst/>
          </a:prstGeom>
          <a:ln w="63500">
            <a:solidFill>
              <a:srgbClr val="E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183879" y="2880360"/>
            <a:ext cx="1051560" cy="1051560"/>
          </a:xfrm>
          <a:prstGeom prst="ellipse">
            <a:avLst/>
          </a:prstGeom>
          <a:solidFill>
            <a:srgbClr val="F5F5EB"/>
          </a:solidFill>
          <a:ln>
            <a:solidFill>
              <a:srgbClr val="F5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8705088" y="3063240"/>
            <a:ext cx="438912" cy="338328"/>
          </a:xfrm>
          <a:prstGeom prst="line">
            <a:avLst/>
          </a:prstGeom>
          <a:ln w="50800">
            <a:solidFill>
              <a:srgbClr val="2E79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92440" y="4041648"/>
            <a:ext cx="128016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8FAFF"/>
                </a:solidFill>
                <a:latin typeface="Aptos"/>
              </a:rPr>
              <a:t>COMPASS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1463040" cy="347472"/>
          </a:xfrm>
          <a:prstGeom prst="roundRect">
            <a:avLst/>
          </a:prstGeom>
          <a:solidFill>
            <a:srgbClr val="EF5858"/>
          </a:solidFill>
          <a:ln w="1778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37943"/>
            <a:ext cx="137160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8FAFF"/>
                </a:solidFill>
                <a:latin typeface="Aptos"/>
              </a:rPr>
              <a:t>CURRENT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349240"/>
            <a:ext cx="457200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49D3E0"/>
                </a:solidFill>
                <a:latin typeface="Aptos"/>
              </a:rPr>
              <a:t>Predict → Observe → Explain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Today’s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By the end, students should be able to…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66360" cy="141732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49D3E0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75104"/>
            <a:ext cx="6400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E1C37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874520"/>
            <a:ext cx="37947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Describe magnetic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313432"/>
            <a:ext cx="379476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AEBED7"/>
                </a:solidFill>
                <a:latin typeface="Aptos"/>
              </a:rPr>
              <a:t>Use a simple model to explain magnetisation.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91640"/>
            <a:ext cx="5166360" cy="141732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1965960"/>
            <a:ext cx="640080" cy="640080"/>
          </a:xfrm>
          <a:prstGeom prst="ellipse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975104"/>
            <a:ext cx="6400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E1C3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874520"/>
            <a:ext cx="37947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Explain compass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313432"/>
            <a:ext cx="379476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AEBED7"/>
                </a:solidFill>
                <a:latin typeface="Aptos"/>
              </a:rPr>
              <a:t>Connect Earth’s magnetic field with a freely suspended magnet.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166360" cy="141732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3840480"/>
            <a:ext cx="640080" cy="640080"/>
          </a:xfrm>
          <a:prstGeom prst="ellipse">
            <a:avLst/>
          </a:prstGeom>
          <a:solidFill>
            <a:srgbClr val="2E79DB"/>
          </a:solidFill>
          <a:ln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49624"/>
            <a:ext cx="6400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E1C37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749039"/>
            <a:ext cx="37947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Link electricity and magnetism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187952"/>
            <a:ext cx="379476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AEBED7"/>
                </a:solidFill>
                <a:latin typeface="Aptos"/>
              </a:rPr>
              <a:t>Explain why current creates a magnetic field.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566160"/>
            <a:ext cx="5166360" cy="141732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83680" y="3840480"/>
            <a:ext cx="640080" cy="640080"/>
          </a:xfrm>
          <a:prstGeom prst="ellipse">
            <a:avLst/>
          </a:prstGeom>
          <a:solidFill>
            <a:srgbClr val="51CD92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849624"/>
            <a:ext cx="6400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0E1C37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749039"/>
            <a:ext cx="37947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Explain motion and induction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187952"/>
            <a:ext cx="379476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400" b="0">
                <a:solidFill>
                  <a:srgbClr val="AEBED7"/>
                </a:solidFill>
                <a:latin typeface="Aptos"/>
              </a:rPr>
              <a:t>Describe the motor effect and how changing magnetic conditions can induce current.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Mission 1 • The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A magnetic effect begins with moving electric charge.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57200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F8FAFF"/>
                </a:solidFill>
                <a:latin typeface="Aptos"/>
              </a:rPr>
              <a:t>A complete path lets current flow. An open switch breaks the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572000" cy="2560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300"/>
              </a:spcAft>
              <a:defRPr sz="1800" b="1">
                <a:solidFill>
                  <a:srgbClr val="49D3E0"/>
                </a:solidFill>
                <a:latin typeface="Aptos"/>
              </a:defRPr>
            </a:pPr>
            <a:r>
              <a:t>Cell supplies electrical energy</a:t>
            </a:r>
          </a:p>
          <a:p>
            <a:pPr>
              <a:spcAft>
                <a:spcPts val="1300"/>
              </a:spcAft>
              <a:defRPr sz="1800" b="0">
                <a:solidFill>
                  <a:srgbClr val="F8FAFF"/>
                </a:solidFill>
                <a:latin typeface="Aptos"/>
              </a:defRPr>
            </a:pPr>
            <a:r>
              <a:t>Closed switch → complete path → current flows</a:t>
            </a:r>
          </a:p>
          <a:p>
            <a:pPr>
              <a:spcAft>
                <a:spcPts val="1300"/>
              </a:spcAft>
              <a:defRPr sz="1800" b="0">
                <a:solidFill>
                  <a:srgbClr val="F8FAFF"/>
                </a:solidFill>
                <a:latin typeface="Aptos"/>
              </a:defRPr>
            </a:pPr>
            <a:r>
              <a:t>Open switch → broken path → no sustained current</a:t>
            </a:r>
          </a:p>
          <a:p>
            <a:pPr>
              <a:spcAft>
                <a:spcPts val="1300"/>
              </a:spcAft>
              <a:defRPr sz="1800" b="1">
                <a:solidFill>
                  <a:srgbClr val="FFBE41"/>
                </a:solidFill>
                <a:latin typeface="Aptos"/>
              </a:defRPr>
            </a:pPr>
            <a:r>
              <a:t>The bulb glows only when the circuit is 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91640"/>
            <a:ext cx="5303520" cy="347472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629400" y="2331720"/>
            <a:ext cx="3337560" cy="0"/>
          </a:xfrm>
          <a:prstGeom prst="line">
            <a:avLst/>
          </a:prstGeom>
          <a:ln w="508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966960" y="2331720"/>
            <a:ext cx="0" cy="1920240"/>
          </a:xfrm>
          <a:prstGeom prst="line">
            <a:avLst/>
          </a:prstGeom>
          <a:ln w="508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629400" y="4251960"/>
            <a:ext cx="3337560" cy="0"/>
          </a:xfrm>
          <a:prstGeom prst="line">
            <a:avLst/>
          </a:prstGeom>
          <a:ln w="508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629400" y="3611880"/>
            <a:ext cx="0" cy="640080"/>
          </a:xfrm>
          <a:prstGeom prst="line">
            <a:avLst/>
          </a:prstGeom>
          <a:ln w="508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629400" y="2331720"/>
            <a:ext cx="0" cy="777240"/>
          </a:xfrm>
          <a:prstGeom prst="line">
            <a:avLst/>
          </a:prstGeom>
          <a:ln w="508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09360" y="3127248"/>
            <a:ext cx="640080" cy="0"/>
          </a:xfrm>
          <a:prstGeom prst="line">
            <a:avLst/>
          </a:prstGeom>
          <a:ln w="508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19088" y="3364992"/>
            <a:ext cx="420624" cy="0"/>
          </a:xfrm>
          <a:prstGeom prst="line">
            <a:avLst/>
          </a:prstGeom>
          <a:ln w="254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29600" y="2331720"/>
            <a:ext cx="502920" cy="0"/>
          </a:xfrm>
          <a:prstGeom prst="line">
            <a:avLst/>
          </a:prstGeom>
          <a:ln w="38100">
            <a:solidFill>
              <a:srgbClr val="F8F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732520" y="2029968"/>
            <a:ext cx="457200" cy="301752"/>
          </a:xfrm>
          <a:prstGeom prst="line">
            <a:avLst/>
          </a:prstGeom>
          <a:ln w="381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646920" y="2971800"/>
            <a:ext cx="640080" cy="640080"/>
          </a:xfrm>
          <a:prstGeom prst="ellipse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526280"/>
            <a:ext cx="8229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1">
                <a:solidFill>
                  <a:srgbClr val="AEBED7"/>
                </a:solidFill>
                <a:latin typeface="Aptos"/>
              </a:rPr>
              <a:t>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28800"/>
            <a:ext cx="118872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1">
                <a:solidFill>
                  <a:srgbClr val="FFBE41"/>
                </a:solidFill>
                <a:latin typeface="Aptos"/>
              </a:rPr>
              <a:t>SWITCH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703320"/>
            <a:ext cx="82296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100" b="1">
                <a:solidFill>
                  <a:srgbClr val="FFBE41"/>
                </a:solidFill>
                <a:latin typeface="Aptos"/>
              </a:rPr>
              <a:t>BULB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623560"/>
            <a:ext cx="5486400" cy="347472"/>
          </a:xfrm>
          <a:prstGeom prst="roundRect">
            <a:avLst/>
          </a:prstGeom>
          <a:solidFill>
            <a:srgbClr val="A275FF"/>
          </a:solidFill>
          <a:ln w="17780">
            <a:solidFill>
              <a:srgbClr val="A2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32704"/>
            <a:ext cx="539496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8FAFF"/>
                </a:solidFill>
                <a:latin typeface="Aptos"/>
              </a:rPr>
              <a:t>CHECK: What changes when the switch opens?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Mission 2 • Inside a magnet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A useful model: magnetic domains.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486400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900" b="1">
                <a:solidFill>
                  <a:srgbClr val="F8FAFF"/>
                </a:solidFill>
                <a:latin typeface="Aptos"/>
              </a:rPr>
              <a:t>In many magnetic materials, tiny atomic magnetic moments group into regions called domains.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BE41"/>
                </a:solidFill>
                <a:latin typeface="Aptos"/>
              </a:rPr>
              <a:t>Unmagnetised piece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697480"/>
            <a:ext cx="2194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49D3E0"/>
                </a:solidFill>
                <a:latin typeface="Aptos"/>
              </a:rPr>
              <a:t>Magnetised piece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54680"/>
            <a:ext cx="4892040" cy="141732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43000" y="3429000"/>
            <a:ext cx="274320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581912" y="3429000"/>
            <a:ext cx="274320" cy="0"/>
          </a:xfrm>
          <a:prstGeom prst="line">
            <a:avLst/>
          </a:prstGeom>
          <a:ln w="254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69464" y="3429000"/>
            <a:ext cx="0" cy="274320"/>
          </a:xfrm>
          <a:prstGeom prst="line">
            <a:avLst/>
          </a:prstGeom>
          <a:ln w="25400">
            <a:solidFill>
              <a:srgbClr val="E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282696" y="3154680"/>
            <a:ext cx="0" cy="274320"/>
          </a:xfrm>
          <a:prstGeom prst="line">
            <a:avLst/>
          </a:prstGeom>
          <a:ln w="25400">
            <a:solidFill>
              <a:srgbClr val="A2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995928" y="3429000"/>
            <a:ext cx="274320" cy="27432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434840" y="3429000"/>
            <a:ext cx="274320" cy="274320"/>
          </a:xfrm>
          <a:prstGeom prst="line">
            <a:avLst/>
          </a:prstGeom>
          <a:ln w="254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43000" y="3749040"/>
            <a:ext cx="274320" cy="274320"/>
          </a:xfrm>
          <a:prstGeom prst="line">
            <a:avLst/>
          </a:prstGeom>
          <a:ln w="25400">
            <a:solidFill>
              <a:srgbClr val="E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1581912" y="3749040"/>
            <a:ext cx="274320" cy="274320"/>
          </a:xfrm>
          <a:prstGeom prst="line">
            <a:avLst/>
          </a:prstGeom>
          <a:ln w="25400">
            <a:solidFill>
              <a:srgbClr val="A2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69464" y="4023360"/>
            <a:ext cx="274320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008376" y="4023360"/>
            <a:ext cx="274320" cy="0"/>
          </a:xfrm>
          <a:prstGeom prst="line">
            <a:avLst/>
          </a:prstGeom>
          <a:ln w="254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95928" y="4023360"/>
            <a:ext cx="0" cy="274320"/>
          </a:xfrm>
          <a:prstGeom prst="line">
            <a:avLst/>
          </a:prstGeom>
          <a:ln w="25400">
            <a:solidFill>
              <a:srgbClr val="E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709160" y="3749040"/>
            <a:ext cx="274320" cy="274320"/>
          </a:xfrm>
          <a:prstGeom prst="line">
            <a:avLst/>
          </a:prstGeom>
          <a:ln w="25400">
            <a:solidFill>
              <a:srgbClr val="A2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0" y="3154680"/>
            <a:ext cx="4892040" cy="141732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720840" y="347472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34071" y="347472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147304" y="347472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60536" y="347472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73767" y="347472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347472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20840" y="406908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434071" y="406908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47304" y="406908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60536" y="406908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573767" y="406908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287000" y="4069080"/>
            <a:ext cx="310896" cy="0"/>
          </a:xfrm>
          <a:prstGeom prst="line">
            <a:avLst/>
          </a:prstGeom>
          <a:ln w="2540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05840" y="4709160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AEBED7"/>
                </a:solidFill>
                <a:latin typeface="Aptos"/>
              </a:rPr>
              <a:t>Directions mostly cancel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70916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AEBED7"/>
                </a:solidFill>
                <a:latin typeface="Aptos"/>
              </a:rPr>
              <a:t>Many domains point the same 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48640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BE41"/>
                </a:solidFill>
                <a:latin typeface="Aptos"/>
              </a:rPr>
              <a:t>Important: domains are regions containing many atomic magnetic moments—not individual molecules.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Mission 3 • Magnetic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Poles tell the story.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120640" cy="320040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EF5858"/>
                </a:solidFill>
                <a:latin typeface="Aptos"/>
              </a:rPr>
              <a:t>LIKE POLES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743200"/>
            <a:ext cx="1508760" cy="658368"/>
          </a:xfrm>
          <a:prstGeom prst="roundRect">
            <a:avLst/>
          </a:prstGeom>
          <a:solidFill>
            <a:srgbClr val="EF5858"/>
          </a:solidFill>
          <a:ln w="1778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788920"/>
            <a:ext cx="15087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F8FAFF"/>
                </a:solidFill>
                <a:latin typeface="Aptos"/>
              </a:rPr>
              <a:t>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743200"/>
            <a:ext cx="1508760" cy="658368"/>
          </a:xfrm>
          <a:prstGeom prst="roundRect">
            <a:avLst/>
          </a:prstGeom>
          <a:solidFill>
            <a:srgbClr val="2E79DB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788920"/>
            <a:ext cx="15087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F8FAFF"/>
                </a:solidFill>
                <a:latin typeface="Aptos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566160"/>
            <a:ext cx="237744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FFBE41"/>
                </a:solidFill>
                <a:latin typeface="Aptos"/>
              </a:rPr>
              <a:t>←   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0">
                <a:solidFill>
                  <a:srgbClr val="F8FAFF"/>
                </a:solidFill>
                <a:latin typeface="Aptos"/>
              </a:rPr>
              <a:t>Repel: N–N or S–S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120640" cy="320040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475488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51CD92"/>
                </a:solidFill>
                <a:latin typeface="Aptos"/>
              </a:rPr>
              <a:t>UNLIKE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2743200"/>
            <a:ext cx="1508760" cy="658368"/>
          </a:xfrm>
          <a:prstGeom prst="roundRect">
            <a:avLst/>
          </a:prstGeom>
          <a:solidFill>
            <a:srgbClr val="EF5858"/>
          </a:solidFill>
          <a:ln w="1778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788920"/>
            <a:ext cx="15087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F8FAFF"/>
                </a:solidFill>
                <a:latin typeface="Aptos"/>
              </a:rPr>
              <a:t>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743200"/>
            <a:ext cx="1508760" cy="658368"/>
          </a:xfrm>
          <a:prstGeom prst="roundRect">
            <a:avLst/>
          </a:prstGeom>
          <a:solidFill>
            <a:srgbClr val="2E79DB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788920"/>
            <a:ext cx="150876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F8FAFF"/>
                </a:solidFill>
                <a:latin typeface="Aptos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566160"/>
            <a:ext cx="237744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FFBE41"/>
                </a:solidFill>
                <a:latin typeface="Aptos"/>
              </a:rPr>
              <a:t>→     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4340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0">
                <a:solidFill>
                  <a:srgbClr val="F8FAFF"/>
                </a:solidFill>
                <a:latin typeface="Aptos"/>
              </a:rPr>
              <a:t>Attract: N–S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32120"/>
            <a:ext cx="1005840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49D3E0"/>
                </a:solidFill>
                <a:latin typeface="Aptos"/>
              </a:rPr>
              <a:t>Animation idea: move the magnets together and watch their motion change—arrows alone are not the whole 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Mission 4 • Earth is a giant magnet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Why does a freely suspended compass point approximately north–south?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800600" cy="13258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F8FAFF"/>
                </a:solidFill>
                <a:latin typeface="Aptos"/>
              </a:rPr>
              <a:t>A compass needle aligns with the local magnetic field. Earth has a magnetic field, so the needle settles along its direction.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4663440" cy="9144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0">
                <a:solidFill>
                  <a:srgbClr val="FFBE41"/>
                </a:solidFill>
                <a:latin typeface="Aptos"/>
              </a:rPr>
              <a:t>The compass does not point to geographic north with perfect accuracy everywhere: magnetic and geographic north differ.</a:t>
            </a:r>
          </a:p>
        </p:txBody>
      </p:sp>
      <p:sp>
        <p:nvSpPr>
          <p:cNvPr id="8" name="Oval 7"/>
          <p:cNvSpPr/>
          <p:nvPr/>
        </p:nvSpPr>
        <p:spPr>
          <a:xfrm>
            <a:off x="6903720" y="1965960"/>
            <a:ext cx="2423160" cy="2423160"/>
          </a:xfrm>
          <a:prstGeom prst="ellipse">
            <a:avLst/>
          </a:prstGeom>
          <a:solidFill>
            <a:srgbClr val="2E79DB"/>
          </a:solidFill>
          <a:ln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0" y="2331720"/>
            <a:ext cx="502920" cy="685800"/>
          </a:xfrm>
          <a:prstGeom prst="roundRect">
            <a:avLst/>
          </a:prstGeom>
          <a:solidFill>
            <a:srgbClr val="51CD92"/>
          </a:solidFill>
          <a:ln w="17780"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2880360"/>
            <a:ext cx="594360" cy="438912"/>
          </a:xfrm>
          <a:prstGeom prst="roundRect">
            <a:avLst/>
          </a:prstGeom>
          <a:solidFill>
            <a:srgbClr val="51CD92"/>
          </a:solidFill>
          <a:ln w="17780"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3337560"/>
            <a:ext cx="320040" cy="640080"/>
          </a:xfrm>
          <a:prstGeom prst="roundRect">
            <a:avLst/>
          </a:prstGeom>
          <a:solidFill>
            <a:srgbClr val="51CD92"/>
          </a:solidFill>
          <a:ln w="17780"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989320" y="2377440"/>
            <a:ext cx="548640" cy="777240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3154680"/>
            <a:ext cx="640080" cy="1005840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92640" y="2377440"/>
            <a:ext cx="548640" cy="777240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601200" y="3154680"/>
            <a:ext cx="640080" cy="1005840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989320" y="2697480"/>
            <a:ext cx="548640" cy="457200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89320" y="3154680"/>
            <a:ext cx="640080" cy="909827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0" y="2697480"/>
            <a:ext cx="548640" cy="457200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601200" y="3154680"/>
            <a:ext cx="640080" cy="909827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989320" y="3017520"/>
            <a:ext cx="548640" cy="137160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" y="3154680"/>
            <a:ext cx="640080" cy="813816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92640" y="3017520"/>
            <a:ext cx="548640" cy="137160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601200" y="3154680"/>
            <a:ext cx="640080" cy="813816"/>
          </a:xfrm>
          <a:prstGeom prst="line">
            <a:avLst/>
          </a:prstGeom>
          <a:ln w="1905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921240" y="4297680"/>
            <a:ext cx="777240" cy="777240"/>
          </a:xfrm>
          <a:prstGeom prst="ellipse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10305288" y="4389120"/>
            <a:ext cx="0" cy="274320"/>
          </a:xfrm>
          <a:prstGeom prst="line">
            <a:avLst/>
          </a:prstGeom>
          <a:ln w="38100">
            <a:solidFill>
              <a:srgbClr val="E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149840" y="4160520"/>
            <a:ext cx="32004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8FAFF"/>
                </a:solidFill>
                <a:latin typeface="Aptos"/>
              </a:rPr>
              <a:t>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03520"/>
            <a:ext cx="438912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49D3E0"/>
                </a:solidFill>
                <a:latin typeface="Aptos"/>
              </a:rPr>
              <a:t>EARTH'S MAGNETIC FIELD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Mission 5 • Electricity makes magnetism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Hans Christian Ørsted • 1820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846320" cy="10515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200" b="1">
                <a:solidFill>
                  <a:srgbClr val="F8FAFF"/>
                </a:solidFill>
                <a:latin typeface="Aptos"/>
              </a:rPr>
              <a:t>During a demonstration, Ørsted observed that a nearby compass needle deflected when current flowed in a wire.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4572000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000" b="1">
                <a:solidFill>
                  <a:srgbClr val="49D3E0"/>
                </a:solidFill>
                <a:latin typeface="Aptos"/>
              </a:rPr>
              <a:t>Conclusion: an electric current produces a magnetic field around the conductor.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43400"/>
            <a:ext cx="45720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FFBE41"/>
                </a:solidFill>
                <a:latin typeface="Aptos"/>
              </a:rPr>
              <a:t>Reverse the current → the field direction reverses.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12080" cy="3749039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732520" y="2103120"/>
            <a:ext cx="0" cy="2788920"/>
          </a:xfrm>
          <a:prstGeom prst="line">
            <a:avLst/>
          </a:prstGeom>
          <a:ln w="63500">
            <a:solidFill>
              <a:srgbClr val="EF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321040" y="2743200"/>
            <a:ext cx="822960" cy="822960"/>
          </a:xfrm>
          <a:prstGeom prst="ellipse">
            <a:avLst/>
          </a:prstGeom>
          <a:noFill/>
          <a:ln w="1905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0" y="2468880"/>
            <a:ext cx="1371600" cy="1371600"/>
          </a:xfrm>
          <a:prstGeom prst="ellipse">
            <a:avLst/>
          </a:prstGeom>
          <a:noFill/>
          <a:ln w="1905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0" y="2194560"/>
            <a:ext cx="1920240" cy="1920240"/>
          </a:xfrm>
          <a:prstGeom prst="ellipse">
            <a:avLst/>
          </a:prstGeom>
          <a:noFill/>
          <a:ln w="1905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49640" y="1874519"/>
            <a:ext cx="365760" cy="365760"/>
          </a:xfrm>
          <a:prstGeom prst="ellipse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874519"/>
            <a:ext cx="3657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0E1C37"/>
                </a:solidFill>
                <a:latin typeface="Aptos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92040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0">
                <a:solidFill>
                  <a:srgbClr val="AEBED7"/>
                </a:solidFill>
                <a:latin typeface="Aptos"/>
              </a:rPr>
              <a:t>Magnetic field lines circle the wire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Mission 6 • Build an electromagnet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A coil carrying current can magnetise an iron core.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46320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9D3E0"/>
                </a:solidFill>
                <a:latin typeface="Aptos"/>
              </a:defRPr>
            </a:pPr>
            <a:r>
              <a:t>More coil turns usually make the field stronger (same current and geometry).</a:t>
            </a:r>
          </a:p>
          <a:p>
            <a:pPr>
              <a:spcAft>
                <a:spcPts val="1400"/>
              </a:spcAft>
              <a:defRPr sz="1800" b="0">
                <a:solidFill>
                  <a:srgbClr val="F8FAFF"/>
                </a:solidFill>
                <a:latin typeface="Aptos"/>
              </a:defRPr>
            </a:pPr>
            <a:r>
              <a:t>More current generally strengthens the field.</a:t>
            </a:r>
          </a:p>
          <a:p>
            <a:pPr>
              <a:spcAft>
                <a:spcPts val="1400"/>
              </a:spcAft>
              <a:defRPr sz="1800" b="0">
                <a:solidFill>
                  <a:srgbClr val="F8FAFF"/>
                </a:solidFill>
                <a:latin typeface="Aptos"/>
              </a:defRPr>
            </a:pPr>
            <a:r>
              <a:t>Switch off the current → the electromagnet’s field greatly reduces.</a:t>
            </a:r>
          </a:p>
          <a:p>
            <a:pPr>
              <a:spcAft>
                <a:spcPts val="1400"/>
              </a:spcAft>
              <a:defRPr sz="1800" b="1">
                <a:solidFill>
                  <a:srgbClr val="FFBE41"/>
                </a:solidFill>
                <a:latin typeface="Aptos"/>
              </a:defRPr>
            </a:pPr>
            <a:r>
              <a:t>Reverse current → the poles swap.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737360"/>
            <a:ext cx="5303520" cy="338328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03720" y="2834640"/>
            <a:ext cx="3566160" cy="566928"/>
          </a:xfrm>
          <a:prstGeom prst="roundRect">
            <a:avLst/>
          </a:prstGeom>
          <a:solidFill>
            <a:srgbClr val="7D8FA4"/>
          </a:solidFill>
          <a:ln w="17780">
            <a:solidFill>
              <a:srgbClr val="AAB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0" y="2514600"/>
            <a:ext cx="411480" cy="1188720"/>
          </a:xfrm>
          <a:prstGeom prst="ellipse">
            <a:avLst/>
          </a:prstGeom>
          <a:noFill/>
          <a:ln w="2540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51776" y="2514600"/>
            <a:ext cx="411480" cy="1188720"/>
          </a:xfrm>
          <a:prstGeom prst="ellipse">
            <a:avLst/>
          </a:prstGeom>
          <a:noFill/>
          <a:ln w="2540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62672" y="2514600"/>
            <a:ext cx="411480" cy="1188720"/>
          </a:xfrm>
          <a:prstGeom prst="ellipse">
            <a:avLst/>
          </a:prstGeom>
          <a:noFill/>
          <a:ln w="2540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73568" y="2514600"/>
            <a:ext cx="411480" cy="1188720"/>
          </a:xfrm>
          <a:prstGeom prst="ellipse">
            <a:avLst/>
          </a:prstGeom>
          <a:noFill/>
          <a:ln w="2540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84464" y="2514600"/>
            <a:ext cx="411480" cy="1188720"/>
          </a:xfrm>
          <a:prstGeom prst="ellipse">
            <a:avLst/>
          </a:prstGeom>
          <a:noFill/>
          <a:ln w="2540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0" y="2514600"/>
            <a:ext cx="411480" cy="1188720"/>
          </a:xfrm>
          <a:prstGeom prst="ellipse">
            <a:avLst/>
          </a:prstGeom>
          <a:noFill/>
          <a:ln w="2540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06256" y="2514600"/>
            <a:ext cx="411480" cy="1188720"/>
          </a:xfrm>
          <a:prstGeom prst="ellipse">
            <a:avLst/>
          </a:prstGeom>
          <a:noFill/>
          <a:ln w="2540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17152" y="2514600"/>
            <a:ext cx="411480" cy="1188720"/>
          </a:xfrm>
          <a:prstGeom prst="ellipse">
            <a:avLst/>
          </a:prstGeom>
          <a:noFill/>
          <a:ln w="2540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28048" y="2514600"/>
            <a:ext cx="411480" cy="1188720"/>
          </a:xfrm>
          <a:prstGeom prst="ellipse">
            <a:avLst/>
          </a:prstGeom>
          <a:noFill/>
          <a:ln w="2540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38944" y="2514600"/>
            <a:ext cx="411480" cy="1188720"/>
          </a:xfrm>
          <a:prstGeom prst="ellipse">
            <a:avLst/>
          </a:prstGeom>
          <a:noFill/>
          <a:ln w="2540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4160520"/>
            <a:ext cx="868680" cy="457200"/>
          </a:xfrm>
          <a:prstGeom prst="roundRect">
            <a:avLst/>
          </a:prstGeom>
          <a:solidFill>
            <a:srgbClr val="FFBE41"/>
          </a:solidFill>
          <a:ln w="17780"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87952"/>
            <a:ext cx="86868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E1C37"/>
                </a:solidFill>
                <a:latin typeface="Aptos"/>
              </a:rPr>
              <a:t>CELL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971800"/>
            <a:ext cx="146304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0E1C37"/>
                </a:solidFill>
                <a:latin typeface="Aptos"/>
              </a:rPr>
              <a:t>IRON CORE</a:t>
            </a:r>
          </a:p>
        </p:txBody>
      </p:sp>
      <p:sp>
        <p:nvSpPr>
          <p:cNvPr id="22" name="Arc 21"/>
          <p:cNvSpPr/>
          <p:nvPr/>
        </p:nvSpPr>
        <p:spPr>
          <a:xfrm>
            <a:off x="10424160" y="2788920"/>
            <a:ext cx="411480" cy="502920"/>
          </a:xfrm>
          <a:prstGeom prst="arc">
            <a:avLst/>
          </a:prstGeom>
          <a:noFill/>
          <a:ln w="25400"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rc 22"/>
          <p:cNvSpPr/>
          <p:nvPr/>
        </p:nvSpPr>
        <p:spPr>
          <a:xfrm>
            <a:off x="10561320" y="3017520"/>
            <a:ext cx="411480" cy="502920"/>
          </a:xfrm>
          <a:prstGeom prst="arc">
            <a:avLst/>
          </a:prstGeom>
          <a:noFill/>
          <a:ln w="25400"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rc 23"/>
          <p:cNvSpPr/>
          <p:nvPr/>
        </p:nvSpPr>
        <p:spPr>
          <a:xfrm>
            <a:off x="10698480" y="3246120"/>
            <a:ext cx="411480" cy="502920"/>
          </a:xfrm>
          <a:prstGeom prst="arc">
            <a:avLst/>
          </a:prstGeom>
          <a:noFill/>
          <a:ln w="25400"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rc 24"/>
          <p:cNvSpPr/>
          <p:nvPr/>
        </p:nvSpPr>
        <p:spPr>
          <a:xfrm>
            <a:off x="10835640" y="3474720"/>
            <a:ext cx="411480" cy="502920"/>
          </a:xfrm>
          <a:prstGeom prst="arc">
            <a:avLst/>
          </a:prstGeom>
          <a:noFill/>
          <a:ln w="25400"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257800"/>
            <a:ext cx="48463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49D3E0"/>
                </a:solidFill>
                <a:latin typeface="Aptos"/>
              </a:rPr>
              <a:t>Paper clips are attracted when the coil is energised.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Mission 7 • The motor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A current-carrying conductor in a magnetic field can experience a force.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572000" cy="10972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F8FAFF"/>
                </a:solidFill>
                <a:latin typeface="Aptos"/>
              </a:rPr>
              <a:t>In a simple motor, forces act on opposite sides of a current-carrying coil. The forces can turn the coil.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457200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FFBE41"/>
                </a:solidFill>
                <a:latin typeface="Aptos"/>
              </a:rPr>
              <a:t>Reverse current OR reverse the magnetic field → the force direction reverses.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4572000" cy="9144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0">
                <a:solidFill>
                  <a:srgbClr val="AEBED7"/>
                </a:solidFill>
                <a:latin typeface="Aptos"/>
              </a:rPr>
              <a:t>A commutator in a simple DC motor reverses coil current every half-turn to keep rotation going in the same overall direction.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303520" cy="3749039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2240280"/>
            <a:ext cx="731520" cy="2377440"/>
          </a:xfrm>
          <a:prstGeom prst="roundRect">
            <a:avLst/>
          </a:prstGeom>
          <a:solidFill>
            <a:srgbClr val="EF5858"/>
          </a:solidFill>
          <a:ln w="1778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063240"/>
            <a:ext cx="73152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8FAFF"/>
                </a:solidFill>
                <a:latin typeface="Aptos"/>
              </a:rPr>
              <a:t>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2240280"/>
            <a:ext cx="731520" cy="2377440"/>
          </a:xfrm>
          <a:prstGeom prst="roundRect">
            <a:avLst/>
          </a:prstGeom>
          <a:solidFill>
            <a:srgbClr val="2E79DB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0" y="3063240"/>
            <a:ext cx="73152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F8FAFF"/>
                </a:solidFill>
                <a:latin typeface="Aptos"/>
              </a:rPr>
              <a:t>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69480" y="2560320"/>
            <a:ext cx="2743200" cy="0"/>
          </a:xfrm>
          <a:prstGeom prst="line">
            <a:avLst/>
          </a:prstGeom>
          <a:ln w="2159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69480" y="3246120"/>
            <a:ext cx="2743200" cy="0"/>
          </a:xfrm>
          <a:prstGeom prst="line">
            <a:avLst/>
          </a:prstGeom>
          <a:ln w="2159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69480" y="3931920"/>
            <a:ext cx="2743200" cy="0"/>
          </a:xfrm>
          <a:prstGeom prst="line">
            <a:avLst/>
          </a:prstGeom>
          <a:ln w="21590">
            <a:solidFill>
              <a:srgbClr val="4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2440" y="2651760"/>
            <a:ext cx="1143000" cy="0"/>
          </a:xfrm>
          <a:prstGeom prst="line">
            <a:avLst/>
          </a:prstGeom>
          <a:ln w="508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35440" y="2651760"/>
            <a:ext cx="0" cy="1508760"/>
          </a:xfrm>
          <a:prstGeom prst="line">
            <a:avLst/>
          </a:prstGeom>
          <a:ln w="508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092440" y="4160520"/>
            <a:ext cx="1143000" cy="0"/>
          </a:xfrm>
          <a:prstGeom prst="line">
            <a:avLst/>
          </a:prstGeom>
          <a:ln w="508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92440" y="2651760"/>
            <a:ext cx="0" cy="1508760"/>
          </a:xfrm>
          <a:prstGeom prst="line">
            <a:avLst/>
          </a:prstGeom>
          <a:ln w="508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7543800" y="2743200"/>
            <a:ext cx="548640" cy="228600"/>
          </a:xfrm>
          <a:prstGeom prst="line">
            <a:avLst/>
          </a:prstGeom>
          <a:ln w="38100">
            <a:solidFill>
              <a:srgbClr val="51CD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235440" y="3794760"/>
            <a:ext cx="548640" cy="228600"/>
          </a:xfrm>
          <a:prstGeom prst="line">
            <a:avLst/>
          </a:prstGeom>
          <a:ln w="38100">
            <a:solidFill>
              <a:srgbClr val="A2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21040" y="3246120"/>
            <a:ext cx="6858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8FAFF"/>
                </a:solidFill>
                <a:latin typeface="Aptos"/>
              </a:rPr>
              <a:t>COIL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Mission 8 • Make electricity from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Faraday’s discovery • 1831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754880" cy="12344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100" b="1">
                <a:solidFill>
                  <a:srgbClr val="F8FAFF"/>
                </a:solidFill>
                <a:latin typeface="Aptos"/>
              </a:rPr>
              <a:t>When the magnetic field through a coil changes, a voltage can be induced. If the circuit is closed, current can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45720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49D3E0"/>
                </a:solidFill>
                <a:latin typeface="Aptos"/>
              </a:rPr>
              <a:t>Move the magnet faster → usually a larger induced voltage.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4572000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FBE41"/>
                </a:solidFill>
                <a:latin typeface="Aptos"/>
              </a:rPr>
              <a:t>Hold the magnet still relative to the coil → no changing flux, so no sustained induced voltage.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303520" cy="3749039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0" y="2423160"/>
            <a:ext cx="411480" cy="1920240"/>
          </a:xfrm>
          <a:prstGeom prst="ellipse">
            <a:avLst/>
          </a:prstGeom>
          <a:noFill/>
          <a:ln w="2540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58784" y="2423160"/>
            <a:ext cx="411480" cy="1920240"/>
          </a:xfrm>
          <a:prstGeom prst="ellipse">
            <a:avLst/>
          </a:prstGeom>
          <a:noFill/>
          <a:ln w="2540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5088" y="2423160"/>
            <a:ext cx="411480" cy="1920240"/>
          </a:xfrm>
          <a:prstGeom prst="ellipse">
            <a:avLst/>
          </a:prstGeom>
          <a:noFill/>
          <a:ln w="2540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51392" y="2423160"/>
            <a:ext cx="411480" cy="1920240"/>
          </a:xfrm>
          <a:prstGeom prst="ellipse">
            <a:avLst/>
          </a:prstGeom>
          <a:noFill/>
          <a:ln w="2540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97696" y="2423160"/>
            <a:ext cx="411480" cy="1920240"/>
          </a:xfrm>
          <a:prstGeom prst="ellipse">
            <a:avLst/>
          </a:prstGeom>
          <a:noFill/>
          <a:ln w="2540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0" y="2423160"/>
            <a:ext cx="411480" cy="1920240"/>
          </a:xfrm>
          <a:prstGeom prst="ellipse">
            <a:avLst/>
          </a:prstGeom>
          <a:noFill/>
          <a:ln w="2540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90304" y="2423160"/>
            <a:ext cx="411480" cy="1920240"/>
          </a:xfrm>
          <a:prstGeom prst="ellipse">
            <a:avLst/>
          </a:prstGeom>
          <a:noFill/>
          <a:ln w="2540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36608" y="2423160"/>
            <a:ext cx="411480" cy="1920240"/>
          </a:xfrm>
          <a:prstGeom prst="ellipse">
            <a:avLst/>
          </a:prstGeom>
          <a:noFill/>
          <a:ln w="2540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2926080"/>
            <a:ext cx="1508760" cy="731520"/>
          </a:xfrm>
          <a:prstGeom prst="roundRect">
            <a:avLst/>
          </a:prstGeom>
          <a:solidFill>
            <a:srgbClr val="EF5858"/>
          </a:solidFill>
          <a:ln w="1778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73152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F8FAFF"/>
                </a:solidFill>
                <a:latin typeface="Aptos"/>
              </a:rPr>
              <a:t>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2926080"/>
            <a:ext cx="777240" cy="731520"/>
          </a:xfrm>
          <a:prstGeom prst="roundRect">
            <a:avLst/>
          </a:prstGeom>
          <a:solidFill>
            <a:srgbClr val="2E79DB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971800"/>
            <a:ext cx="77724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F8FAFF"/>
                </a:solidFill>
                <a:latin typeface="Aptos"/>
              </a:rPr>
              <a:t>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66560" y="2651760"/>
            <a:ext cx="1005840" cy="0"/>
          </a:xfrm>
          <a:prstGeom prst="line">
            <a:avLst/>
          </a:prstGeom>
          <a:ln w="381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104120" y="2971800"/>
            <a:ext cx="685800" cy="685800"/>
          </a:xfrm>
          <a:prstGeom prst="ellipse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738360" y="3337560"/>
            <a:ext cx="365760" cy="0"/>
          </a:xfrm>
          <a:prstGeom prst="line">
            <a:avLst/>
          </a:prstGeom>
          <a:ln w="254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49640" y="4572000"/>
            <a:ext cx="1371600" cy="2743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49D3E0"/>
                </a:solidFill>
                <a:latin typeface="Aptos"/>
              </a:rPr>
              <a:t>COIL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74920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8FAFF"/>
                </a:solidFill>
                <a:latin typeface="Aptos"/>
              </a:rPr>
              <a:t>Mechanical energy → electrical energy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Motor or generator?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Same electromagnetic relationship—different energy conversion.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74920" cy="315468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23160" y="2011680"/>
            <a:ext cx="1828800" cy="347472"/>
          </a:xfrm>
          <a:prstGeom prst="roundRect">
            <a:avLst/>
          </a:prstGeom>
          <a:solidFill>
            <a:srgbClr val="2E79DB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79" y="2020824"/>
            <a:ext cx="173736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8FAFF"/>
                </a:solidFill>
                <a:latin typeface="Aptos"/>
              </a:rPr>
              <a:t>MOTOR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88920"/>
            <a:ext cx="182880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F8FAFF"/>
                </a:solidFill>
                <a:latin typeface="Aptos"/>
              </a:rPr>
              <a:t>Electrical energy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999232"/>
            <a:ext cx="731520" cy="0"/>
          </a:xfrm>
          <a:prstGeom prst="line">
            <a:avLst/>
          </a:prstGeom>
          <a:ln w="381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49039" y="2788920"/>
            <a:ext cx="17830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49D3E0"/>
                </a:solidFill>
                <a:latin typeface="Aptos"/>
              </a:rPr>
              <a:t>Mechanical 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77639"/>
            <a:ext cx="43891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0">
                <a:solidFill>
                  <a:srgbClr val="AEBED7"/>
                </a:solidFill>
                <a:latin typeface="Aptos"/>
              </a:rPr>
              <a:t>Current + magnetic field → force and motion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074920" cy="315468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2011680"/>
            <a:ext cx="2011680" cy="347472"/>
          </a:xfrm>
          <a:prstGeom prst="roundRect">
            <a:avLst/>
          </a:prstGeom>
          <a:solidFill>
            <a:srgbClr val="51CD92"/>
          </a:solidFill>
          <a:ln w="17780"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020824"/>
            <a:ext cx="192024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0E1C37"/>
                </a:solidFill>
                <a:latin typeface="Aptos"/>
              </a:rPr>
              <a:t>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788920"/>
            <a:ext cx="1783080" cy="5486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49D3E0"/>
                </a:solidFill>
                <a:latin typeface="Aptos"/>
              </a:rPr>
              <a:t>Mechanical motion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58200" y="2999232"/>
            <a:ext cx="685800" cy="0"/>
          </a:xfrm>
          <a:prstGeom prst="line">
            <a:avLst/>
          </a:prstGeom>
          <a:ln w="38100">
            <a:solidFill>
              <a:srgbClr val="FFBE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0" y="2788920"/>
            <a:ext cx="178308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F8FAFF"/>
                </a:solidFill>
                <a:latin typeface="Aptos"/>
              </a:rPr>
              <a:t>Electrical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77639"/>
            <a:ext cx="43891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0">
                <a:solidFill>
                  <a:srgbClr val="AEBED7"/>
                </a:solidFill>
                <a:latin typeface="Aptos"/>
              </a:rPr>
              <a:t>Changing magnetic flux → induced voltage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532120"/>
            <a:ext cx="987552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FFBE41"/>
                </a:solidFill>
                <a:latin typeface="Aptos"/>
              </a:rPr>
              <a:t>Both depend on electromagnetism, but the energy flow is opposite.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A short history of invisible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Science grows through observations, experiments and better explanations.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384048" cy="384048"/>
          </a:xfrm>
          <a:prstGeom prst="ellipse">
            <a:avLst/>
          </a:prstGeom>
          <a:solidFill>
            <a:srgbClr val="49D3E0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60704" y="2103120"/>
            <a:ext cx="0" cy="502920"/>
          </a:xfrm>
          <a:prstGeom prst="line">
            <a:avLst/>
          </a:prstGeom>
          <a:ln w="19050">
            <a:solidFill>
              <a:srgbClr val="AE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63040" y="1645920"/>
            <a:ext cx="155448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49D3E0"/>
                </a:solidFill>
                <a:latin typeface="Aptos"/>
              </a:rPr>
              <a:t>c. 1600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45920"/>
            <a:ext cx="228600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William Gilbert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45920"/>
            <a:ext cx="59436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AEBED7"/>
                </a:solidFill>
                <a:latin typeface="Aptos"/>
              </a:rPr>
              <a:t>Studied magnetism; argued Earth behaves like a magnet.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560320"/>
            <a:ext cx="384048" cy="384048"/>
          </a:xfrm>
          <a:prstGeom prst="ellipse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060704" y="2926080"/>
            <a:ext cx="0" cy="502920"/>
          </a:xfrm>
          <a:prstGeom prst="line">
            <a:avLst/>
          </a:prstGeom>
          <a:ln w="19050">
            <a:solidFill>
              <a:srgbClr val="AE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63040" y="2468880"/>
            <a:ext cx="155448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FFBE41"/>
                </a:solidFill>
                <a:latin typeface="Aptos"/>
              </a:rPr>
              <a:t>1820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68880"/>
            <a:ext cx="228600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H. C. Ørsted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68880"/>
            <a:ext cx="59436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AEBED7"/>
                </a:solidFill>
                <a:latin typeface="Aptos"/>
              </a:rPr>
              <a:t>Observed compass deflection near a current-carrying wire.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383280"/>
            <a:ext cx="384048" cy="384048"/>
          </a:xfrm>
          <a:prstGeom prst="ellipse">
            <a:avLst/>
          </a:prstGeom>
          <a:solidFill>
            <a:srgbClr val="A275FF"/>
          </a:solidFill>
          <a:ln>
            <a:solidFill>
              <a:srgbClr val="A2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60704" y="3749039"/>
            <a:ext cx="0" cy="502921"/>
          </a:xfrm>
          <a:prstGeom prst="line">
            <a:avLst/>
          </a:prstGeom>
          <a:ln w="19050">
            <a:solidFill>
              <a:srgbClr val="AE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63040" y="3291840"/>
            <a:ext cx="155448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A275FF"/>
                </a:solidFill>
                <a:latin typeface="Aptos"/>
              </a:rPr>
              <a:t>1825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291840"/>
            <a:ext cx="228600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William Sturgeon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291840"/>
            <a:ext cx="59436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AEBED7"/>
                </a:solidFill>
                <a:latin typeface="Aptos"/>
              </a:rPr>
              <a:t>Built an early practical electromagnet.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206240"/>
            <a:ext cx="384048" cy="384048"/>
          </a:xfrm>
          <a:prstGeom prst="ellipse">
            <a:avLst/>
          </a:prstGeom>
          <a:solidFill>
            <a:srgbClr val="51CD92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060704" y="4572000"/>
            <a:ext cx="0" cy="502920"/>
          </a:xfrm>
          <a:prstGeom prst="line">
            <a:avLst/>
          </a:prstGeom>
          <a:ln w="19050">
            <a:solidFill>
              <a:srgbClr val="AEB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63040" y="4114800"/>
            <a:ext cx="155448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51CD92"/>
                </a:solidFill>
                <a:latin typeface="Aptos"/>
              </a:rPr>
              <a:t>1831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114800"/>
            <a:ext cx="228600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Michael Faraday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114800"/>
            <a:ext cx="59436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AEBED7"/>
                </a:solidFill>
                <a:latin typeface="Aptos"/>
              </a:rPr>
              <a:t>Demonstrated electromagnetic induction.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" y="5029200"/>
            <a:ext cx="384048" cy="384048"/>
          </a:xfrm>
          <a:prstGeom prst="ellipse">
            <a:avLst/>
          </a:prstGeom>
          <a:solidFill>
            <a:srgbClr val="2E79DB"/>
          </a:solidFill>
          <a:ln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4937760"/>
            <a:ext cx="155448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600" b="1">
                <a:solidFill>
                  <a:srgbClr val="2E79DB"/>
                </a:solidFill>
                <a:latin typeface="Aptos"/>
              </a:rPr>
              <a:t>19th century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937760"/>
            <a:ext cx="228600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Motor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937760"/>
            <a:ext cx="5943600" cy="47548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0">
                <a:solidFill>
                  <a:srgbClr val="AEBED7"/>
                </a:solidFill>
                <a:latin typeface="Aptos"/>
              </a:rPr>
              <a:t>Scientists and engineers developed practical electric motors.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989320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BE41"/>
                </a:solidFill>
                <a:latin typeface="Aptos"/>
              </a:rPr>
              <a:t>Story thread: Earth’s magnetism → current makes a field → fields can move coils → changing fields can generate electricity.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Challenge round • Think before you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Use a partner discussion or quick show of hands.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10515600" cy="804672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764792"/>
            <a:ext cx="438912" cy="438912"/>
          </a:xfrm>
          <a:prstGeom prst="ellipse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64792"/>
            <a:ext cx="438912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0E1C37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09928"/>
            <a:ext cx="93268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What happens to the compass near a current-carrying wire?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48256"/>
            <a:ext cx="932688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49D3E0"/>
                </a:solidFill>
                <a:latin typeface="Aptos"/>
              </a:rPr>
              <a:t>Reveal/explain: It deflects because current produces a magnetic field.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24328"/>
            <a:ext cx="10515600" cy="804672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A2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2788920"/>
            <a:ext cx="438912" cy="438912"/>
          </a:xfrm>
          <a:prstGeom prst="ellipse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438912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0E1C37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34056"/>
            <a:ext cx="93268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What changes when the current direction is reversed?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72384"/>
            <a:ext cx="932688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49D3E0"/>
                </a:solidFill>
                <a:latin typeface="Aptos"/>
              </a:rPr>
              <a:t>Reveal/explain: The direction of the magnetic field reverses.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48456"/>
            <a:ext cx="10515600" cy="804672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2E7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3813048"/>
            <a:ext cx="438912" cy="438912"/>
          </a:xfrm>
          <a:prstGeom prst="ellipse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438912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0E1C37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58184"/>
            <a:ext cx="93268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Why does a freely suspended compass settle roughly north–south?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96512"/>
            <a:ext cx="932688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49D3E0"/>
                </a:solidFill>
                <a:latin typeface="Aptos"/>
              </a:rPr>
              <a:t>Reveal/explain: It aligns with Earth’s local magnetic field.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672584"/>
            <a:ext cx="10515600" cy="804672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A27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837176"/>
            <a:ext cx="438912" cy="438912"/>
          </a:xfrm>
          <a:prstGeom prst="ellipse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37176"/>
            <a:ext cx="438912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0E1C37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782312"/>
            <a:ext cx="9326880" cy="3200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What is the key difference between a motor and generator?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120640"/>
            <a:ext cx="932688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200" b="0">
                <a:solidFill>
                  <a:srgbClr val="49D3E0"/>
                </a:solidFill>
                <a:latin typeface="Aptos"/>
              </a:rPr>
              <a:t>Reveal/explain: Motor: electrical → mechanical. Generator: mechanical → electrical.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C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3000" b="1">
                <a:solidFill>
                  <a:srgbClr val="F8FAFF"/>
                </a:solidFill>
                <a:latin typeface="Aptos"/>
              </a:rPr>
              <a:t>Exit ticket • Explain it in your own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41832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49D3E0"/>
                </a:solidFill>
                <a:latin typeface="Aptos"/>
              </a:rPr>
              <a:t>Three short responses before you leave.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1234440" cy="50292"/>
          </a:xfrm>
          <a:prstGeom prst="rect">
            <a:avLst/>
          </a:prstGeom>
          <a:solidFill>
            <a:srgbClr val="FFB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502920" cy="25603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100" b="1">
                <a:solidFill>
                  <a:srgbClr val="AEBED7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3246120" cy="214884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103120"/>
            <a:ext cx="566928" cy="566928"/>
          </a:xfrm>
          <a:prstGeom prst="ellipse">
            <a:avLst/>
          </a:prstGeom>
          <a:solidFill>
            <a:srgbClr val="49D3E0"/>
          </a:solidFill>
          <a:ln>
            <a:solidFill>
              <a:srgbClr val="4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12264"/>
            <a:ext cx="566928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E1C37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743200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Explain magnetic domains using the words “aligned” and “random.”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74519"/>
            <a:ext cx="3246120" cy="214884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00600" y="2103120"/>
            <a:ext cx="566928" cy="566928"/>
          </a:xfrm>
          <a:prstGeom prst="ellipse">
            <a:avLst/>
          </a:prstGeom>
          <a:solidFill>
            <a:srgbClr val="FFBE41"/>
          </a:solidFill>
          <a:ln>
            <a:solidFill>
              <a:srgbClr val="FFB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112264"/>
            <a:ext cx="566928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E1C37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880360"/>
            <a:ext cx="2743200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Describe one observation that shows electricity can create magnetism.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1874519"/>
            <a:ext cx="3246120" cy="2148840"/>
          </a:xfrm>
          <a:prstGeom prst="roundRect">
            <a:avLst/>
          </a:prstGeom>
          <a:solidFill>
            <a:srgbClr val="14233F"/>
          </a:solidFill>
          <a:ln w="17780"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19" y="2103120"/>
            <a:ext cx="566928" cy="566928"/>
          </a:xfrm>
          <a:prstGeom prst="ellipse">
            <a:avLst/>
          </a:prstGeom>
          <a:solidFill>
            <a:srgbClr val="51CD92"/>
          </a:solidFill>
          <a:ln>
            <a:solidFill>
              <a:srgbClr val="51C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2112264"/>
            <a:ext cx="566928" cy="53035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0E1C37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880360"/>
            <a:ext cx="2743200" cy="8686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700" b="1">
                <a:solidFill>
                  <a:srgbClr val="F8FAFF"/>
                </a:solidFill>
                <a:latin typeface="Aptos"/>
              </a:rPr>
              <a:t>Explain one difference between a motor and a generator.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09160"/>
            <a:ext cx="10332720" cy="777240"/>
          </a:xfrm>
          <a:prstGeom prst="roundRect">
            <a:avLst/>
          </a:prstGeom>
          <a:solidFill>
            <a:srgbClr val="461E28"/>
          </a:solidFill>
          <a:ln w="17780">
            <a:solidFill>
              <a:srgbClr val="EF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846320"/>
            <a:ext cx="987552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F8FAFF"/>
                </a:solidFill>
                <a:latin typeface="Aptos"/>
              </a:rPr>
              <a:t>SAFETY: Use only approved low-voltage classroom equipment. Never connect experiments to mains electricity.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806440"/>
            <a:ext cx="100584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49D3E0"/>
                </a:solidFill>
                <a:latin typeface="Aptos"/>
              </a:rPr>
              <a:t>Next: open the companion interactive adventure to explore each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